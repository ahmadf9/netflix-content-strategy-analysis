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Lst>
  <p:sldSz cy="5143500" cx="9144000"/>
  <p:notesSz cx="5143500" cy="9144000"/>
  <p:embeddedFontLst>
    <p:embeddedFont>
      <p:font typeface="Arial Black"/>
      <p:regular r:id="rId1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0" roundtripDataSignature="AMtx7mjbtTeYQoqT+kis0wf7FHtNC0fyr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customschemas.google.com/relationships/presentationmetadata" Target="metadata"/><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font" Target="fonts/ArialBlack-regular.fntdata"/><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g3e6aa49a26a_0_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g3e6aa49a26a_0_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 name="Google Shape;24;g3e6aa49a26a_0_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g3d96455d47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g3d96455d47c_1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 name="Google Shape;37;g3d96455d47c_1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 name="Google Shape;49;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 name="Google Shape;50;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 name="Google Shape;8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3" name="Google Shape;8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 name="Google Shape;11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6" name="Google Shape;11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 name="Google Shape;17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2" name="Google Shape;17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d9e4566dc7_1_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 name="Google Shape;184;g3d9e4566dc7_1_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5" name="Google Shape;185;g3d9e4566dc7_1_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d9e4566dc7_1_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d9e4566dc7_1_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g3d9e4566dc7_1_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9" name="Google Shape;20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1" name="Google Shape;22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 name="Google Shape;258;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9" name="Google Shape;259;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1" name="Google Shape;291;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2" name="Google Shape;292;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5" name="Google Shape;315;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6" name="Google Shape;316;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www.kaggle.com/datasets/bhargavchirumamilla/netflix-movies-and-tv-shows-till-2025/data"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https://www.kaggle.com/datasets/bhargavchirumamilla/netflix-movies-and-tv-shows-till-2025/dat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1414"/>
        </a:solidFill>
      </p:bgPr>
    </p:bg>
    <p:spTree>
      <p:nvGrpSpPr>
        <p:cNvPr id="15" name="Shape 15"/>
        <p:cNvGrpSpPr/>
        <p:nvPr/>
      </p:nvGrpSpPr>
      <p:grpSpPr>
        <a:xfrm>
          <a:off x="0" y="0"/>
          <a:ext cx="0" cy="0"/>
          <a:chOff x="0" y="0"/>
          <a:chExt cx="0" cy="0"/>
        </a:xfrm>
      </p:grpSpPr>
      <p:sp>
        <p:nvSpPr>
          <p:cNvPr id="16" name="Google Shape;16;p1"/>
          <p:cNvSpPr/>
          <p:nvPr/>
        </p:nvSpPr>
        <p:spPr>
          <a:xfrm>
            <a:off x="0" y="0"/>
            <a:ext cx="164592" cy="5143500"/>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365760" y="457200"/>
            <a:ext cx="3657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100"/>
              <a:buFont typeface="Arial Black"/>
              <a:buNone/>
            </a:pPr>
            <a:r>
              <a:rPr b="1" i="0" lang="en-US" sz="1100" u="none" cap="none" strike="noStrike">
                <a:solidFill>
                  <a:srgbClr val="E50914"/>
                </a:solidFill>
                <a:latin typeface="Arial Black"/>
                <a:ea typeface="Arial Black"/>
                <a:cs typeface="Arial Black"/>
                <a:sym typeface="Arial Black"/>
              </a:rPr>
              <a:t>NETFLIX</a:t>
            </a:r>
            <a:endParaRPr b="0" i="0" sz="1100" u="none" cap="none" strike="noStrike">
              <a:solidFill>
                <a:schemeClr val="dk1"/>
              </a:solidFill>
              <a:latin typeface="Calibri"/>
              <a:ea typeface="Calibri"/>
              <a:cs typeface="Calibri"/>
              <a:sym typeface="Calibri"/>
            </a:endParaRPr>
          </a:p>
        </p:txBody>
      </p:sp>
      <p:sp>
        <p:nvSpPr>
          <p:cNvPr id="18" name="Google Shape;18;p1"/>
          <p:cNvSpPr/>
          <p:nvPr/>
        </p:nvSpPr>
        <p:spPr>
          <a:xfrm>
            <a:off x="365760" y="1005840"/>
            <a:ext cx="5943600" cy="18288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FFFFFF"/>
              </a:buClr>
              <a:buSzPts val="4400"/>
              <a:buFont typeface="Arial Black"/>
              <a:buNone/>
            </a:pPr>
            <a:r>
              <a:rPr b="1" lang="en-US" sz="4400">
                <a:solidFill>
                  <a:srgbClr val="FFFFFF"/>
                </a:solidFill>
                <a:latin typeface="Arial Black"/>
                <a:ea typeface="Arial Black"/>
                <a:cs typeface="Arial Black"/>
                <a:sym typeface="Arial Black"/>
              </a:rPr>
              <a:t>Netflix </a:t>
            </a:r>
            <a:r>
              <a:rPr b="1" i="0" lang="en-US" sz="4400" u="none" cap="none" strike="noStrike">
                <a:solidFill>
                  <a:srgbClr val="FFFFFF"/>
                </a:solidFill>
                <a:latin typeface="Arial Black"/>
                <a:ea typeface="Arial Black"/>
                <a:cs typeface="Arial Black"/>
                <a:sym typeface="Arial Black"/>
              </a:rPr>
              <a:t>Content Strategy</a:t>
            </a:r>
            <a:endParaRPr b="0" i="0" sz="4400" u="none" cap="none" strike="noStrike">
              <a:solidFill>
                <a:schemeClr val="dk1"/>
              </a:solidFill>
              <a:latin typeface="Calibri"/>
              <a:ea typeface="Calibri"/>
              <a:cs typeface="Calibri"/>
              <a:sym typeface="Calibri"/>
            </a:endParaRPr>
          </a:p>
          <a:p>
            <a:pPr indent="0" lvl="0" marL="0" marR="0" rtl="0" algn="l">
              <a:lnSpc>
                <a:spcPct val="110000"/>
              </a:lnSpc>
              <a:spcBef>
                <a:spcPts val="0"/>
              </a:spcBef>
              <a:spcAft>
                <a:spcPts val="0"/>
              </a:spcAft>
              <a:buClr>
                <a:srgbClr val="FFFFFF"/>
              </a:buClr>
              <a:buSzPts val="4400"/>
              <a:buFont typeface="Arial Black"/>
              <a:buNone/>
            </a:pPr>
            <a:r>
              <a:rPr b="1" i="0" lang="en-US" sz="4400" u="none" cap="none" strike="noStrike">
                <a:solidFill>
                  <a:srgbClr val="FFFFFF"/>
                </a:solidFill>
                <a:latin typeface="Arial Black"/>
                <a:ea typeface="Arial Black"/>
                <a:cs typeface="Arial Black"/>
                <a:sym typeface="Arial Black"/>
              </a:rPr>
              <a:t>Analysis</a:t>
            </a:r>
            <a:endParaRPr b="0" i="0" sz="4400" u="none" cap="none" strike="noStrike">
              <a:solidFill>
                <a:schemeClr val="dk1"/>
              </a:solidFill>
              <a:latin typeface="Calibri"/>
              <a:ea typeface="Calibri"/>
              <a:cs typeface="Calibri"/>
              <a:sym typeface="Calibri"/>
            </a:endParaRPr>
          </a:p>
        </p:txBody>
      </p:sp>
      <p:sp>
        <p:nvSpPr>
          <p:cNvPr id="19" name="Google Shape;19;p1"/>
          <p:cNvSpPr/>
          <p:nvPr/>
        </p:nvSpPr>
        <p:spPr>
          <a:xfrm>
            <a:off x="365760" y="3703320"/>
            <a:ext cx="2286000" cy="36576"/>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1"/>
          <p:cNvSpPr/>
          <p:nvPr/>
        </p:nvSpPr>
        <p:spPr>
          <a:xfrm>
            <a:off x="365760" y="3886200"/>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AAAAA"/>
              </a:buClr>
              <a:buSzPts val="1100"/>
              <a:buFont typeface="Calibri"/>
              <a:buNone/>
            </a:pPr>
            <a:r>
              <a:rPr b="1" lang="en-US" sz="1100">
                <a:solidFill>
                  <a:srgbClr val="FFFFFF"/>
                </a:solidFill>
                <a:latin typeface="Calibri"/>
                <a:ea typeface="Calibri"/>
                <a:cs typeface="Calibri"/>
                <a:sym typeface="Calibri"/>
              </a:rPr>
              <a:t>Ahmad Faizal</a:t>
            </a:r>
            <a:r>
              <a:rPr b="0" i="0" lang="en-US" sz="1100" u="none" cap="none" strike="noStrike">
                <a:solidFill>
                  <a:srgbClr val="AAAAAA"/>
                </a:solidFill>
                <a:latin typeface="Calibri"/>
                <a:ea typeface="Calibri"/>
                <a:cs typeface="Calibri"/>
                <a:sym typeface="Calibri"/>
              </a:rPr>
              <a:t>  |   Dataset: Kaggle — </a:t>
            </a:r>
            <a:r>
              <a:rPr b="0" i="0" lang="en-US" sz="1100" u="sng" cap="none" strike="noStrike">
                <a:solidFill>
                  <a:schemeClr val="hlink"/>
                </a:solidFill>
                <a:latin typeface="Calibri"/>
                <a:ea typeface="Calibri"/>
                <a:cs typeface="Calibri"/>
                <a:sym typeface="Calibri"/>
                <a:hlinkClick r:id="rId3"/>
              </a:rPr>
              <a:t>Netflix 2025</a:t>
            </a:r>
            <a:r>
              <a:rPr b="0" i="0" lang="en-US" sz="1100" u="none" cap="none" strike="noStrike">
                <a:solidFill>
                  <a:srgbClr val="AAAAAA"/>
                </a:solidFill>
                <a:latin typeface="Calibri"/>
                <a:ea typeface="Calibri"/>
                <a:cs typeface="Calibri"/>
                <a:sym typeface="Calibri"/>
              </a:rPr>
              <a:t>   |   Tools: Python · Seaborn · Matplotlib</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1414"/>
        </a:solidFill>
      </p:bgPr>
    </p:bg>
    <p:spTree>
      <p:nvGrpSpPr>
        <p:cNvPr id="25" name="Shape 25"/>
        <p:cNvGrpSpPr/>
        <p:nvPr/>
      </p:nvGrpSpPr>
      <p:grpSpPr>
        <a:xfrm>
          <a:off x="0" y="0"/>
          <a:ext cx="0" cy="0"/>
          <a:chOff x="0" y="0"/>
          <a:chExt cx="0" cy="0"/>
        </a:xfrm>
      </p:grpSpPr>
      <p:sp>
        <p:nvSpPr>
          <p:cNvPr id="26" name="Google Shape;26;g3e6aa49a26a_0_42"/>
          <p:cNvSpPr/>
          <p:nvPr/>
        </p:nvSpPr>
        <p:spPr>
          <a:xfrm>
            <a:off x="0" y="0"/>
            <a:ext cx="164700" cy="5143500"/>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g3e6aa49a26a_0_42"/>
          <p:cNvSpPr/>
          <p:nvPr/>
        </p:nvSpPr>
        <p:spPr>
          <a:xfrm>
            <a:off x="418525" y="253823"/>
            <a:ext cx="8229600" cy="118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5200"/>
              <a:buFont typeface="Arial Black"/>
              <a:buNone/>
            </a:pPr>
            <a:r>
              <a:rPr b="1" lang="en-US" sz="5200">
                <a:solidFill>
                  <a:srgbClr val="FFFFFF"/>
                </a:solidFill>
                <a:latin typeface="Arial Black"/>
                <a:ea typeface="Arial Black"/>
                <a:cs typeface="Arial Black"/>
                <a:sym typeface="Arial Black"/>
              </a:rPr>
              <a:t> DATA ANALYST PORTOFOLIO</a:t>
            </a:r>
            <a:endParaRPr b="0" i="0" sz="5200" u="none" cap="none" strike="noStrike">
              <a:solidFill>
                <a:schemeClr val="dk1"/>
              </a:solidFill>
              <a:latin typeface="Calibri"/>
              <a:ea typeface="Calibri"/>
              <a:cs typeface="Calibri"/>
              <a:sym typeface="Calibri"/>
            </a:endParaRPr>
          </a:p>
        </p:txBody>
      </p:sp>
      <p:sp>
        <p:nvSpPr>
          <p:cNvPr id="28" name="Google Shape;28;g3e6aa49a26a_0_42"/>
          <p:cNvSpPr/>
          <p:nvPr/>
        </p:nvSpPr>
        <p:spPr>
          <a:xfrm>
            <a:off x="3200400" y="1679372"/>
            <a:ext cx="2743200" cy="45600"/>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g3e6aa49a26a_0_42"/>
          <p:cNvSpPr/>
          <p:nvPr/>
        </p:nvSpPr>
        <p:spPr>
          <a:xfrm>
            <a:off x="457200" y="4681728"/>
            <a:ext cx="82296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AAAAA"/>
              </a:buClr>
              <a:buSzPts val="1000"/>
              <a:buFont typeface="Calibri"/>
              <a:buNone/>
            </a:pPr>
            <a:r>
              <a:rPr lang="en-US" sz="1000">
                <a:solidFill>
                  <a:srgbClr val="AAAAAA"/>
                </a:solidFill>
                <a:latin typeface="Calibri"/>
                <a:ea typeface="Calibri"/>
                <a:cs typeface="Calibri"/>
                <a:sym typeface="Calibri"/>
              </a:rPr>
              <a:t>Ahmad Faizal</a:t>
            </a:r>
            <a:r>
              <a:rPr b="0" i="0" lang="en-US" sz="1000" u="none" cap="none" strike="noStrike">
                <a:solidFill>
                  <a:srgbClr val="AAAAAA"/>
                </a:solidFill>
                <a:latin typeface="Calibri"/>
                <a:ea typeface="Calibri"/>
                <a:cs typeface="Calibri"/>
                <a:sym typeface="Calibri"/>
              </a:rPr>
              <a:t>  ·  Data Analyst  ·  </a:t>
            </a:r>
            <a:r>
              <a:rPr lang="en-US" sz="1000">
                <a:solidFill>
                  <a:srgbClr val="AAAAAA"/>
                </a:solidFill>
                <a:latin typeface="Calibri"/>
                <a:ea typeface="Calibri"/>
                <a:cs typeface="Calibri"/>
                <a:sym typeface="Calibri"/>
              </a:rPr>
              <a:t>4ahmadfaizal9@gmail.com</a:t>
            </a:r>
            <a:r>
              <a:rPr b="0" i="0" lang="en-US" sz="1000" u="none" cap="none" strike="noStrike">
                <a:solidFill>
                  <a:srgbClr val="AAAAAA"/>
                </a:solidFill>
                <a:latin typeface="Calibri"/>
                <a:ea typeface="Calibri"/>
                <a:cs typeface="Calibri"/>
                <a:sym typeface="Calibri"/>
              </a:rPr>
              <a:t>  ·  github.com/[username]</a:t>
            </a:r>
            <a:endParaRPr b="0" i="0" sz="1000" u="none" cap="none" strike="noStrike">
              <a:solidFill>
                <a:schemeClr val="dk1"/>
              </a:solidFill>
              <a:latin typeface="Calibri"/>
              <a:ea typeface="Calibri"/>
              <a:cs typeface="Calibri"/>
              <a:sym typeface="Calibri"/>
            </a:endParaRPr>
          </a:p>
        </p:txBody>
      </p:sp>
      <p:sp>
        <p:nvSpPr>
          <p:cNvPr id="30" name="Google Shape;30;g3e6aa49a26a_0_42"/>
          <p:cNvSpPr/>
          <p:nvPr/>
        </p:nvSpPr>
        <p:spPr>
          <a:xfrm>
            <a:off x="415332" y="1827564"/>
            <a:ext cx="82296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AAAAA"/>
              </a:buClr>
              <a:buSzPts val="1300"/>
              <a:buFont typeface="Calibri"/>
              <a:buNone/>
            </a:pPr>
            <a:r>
              <a:rPr b="1" lang="en-US" sz="1500">
                <a:solidFill>
                  <a:schemeClr val="lt1"/>
                </a:solidFill>
                <a:latin typeface="Calibri"/>
                <a:ea typeface="Calibri"/>
                <a:cs typeface="Calibri"/>
                <a:sym typeface="Calibri"/>
              </a:rPr>
              <a:t>Introduction &amp; Overview</a:t>
            </a:r>
            <a:endParaRPr b="1" i="0" sz="1500" u="none" cap="none" strike="noStrike">
              <a:solidFill>
                <a:schemeClr val="lt1"/>
              </a:solidFill>
              <a:latin typeface="Calibri"/>
              <a:ea typeface="Calibri"/>
              <a:cs typeface="Calibri"/>
              <a:sym typeface="Calibri"/>
            </a:endParaRPr>
          </a:p>
        </p:txBody>
      </p:sp>
      <p:sp>
        <p:nvSpPr>
          <p:cNvPr id="31" name="Google Shape;31;g3e6aa49a26a_0_42"/>
          <p:cNvSpPr/>
          <p:nvPr/>
        </p:nvSpPr>
        <p:spPr>
          <a:xfrm>
            <a:off x="586050" y="2740425"/>
            <a:ext cx="8100900" cy="411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AAAAAA"/>
              </a:buClr>
              <a:buSzPts val="1300"/>
              <a:buFont typeface="Calibri"/>
              <a:buNone/>
            </a:pPr>
            <a:r>
              <a:rPr b="1" lang="en-US" sz="1300">
                <a:solidFill>
                  <a:srgbClr val="AAAAAA"/>
                </a:solidFill>
                <a:latin typeface="Calibri"/>
                <a:ea typeface="Calibri"/>
                <a:cs typeface="Calibri"/>
                <a:sym typeface="Calibri"/>
              </a:rPr>
              <a:t>Value: </a:t>
            </a:r>
            <a:r>
              <a:rPr b="1" lang="en-US" sz="1300">
                <a:solidFill>
                  <a:srgbClr val="AAAAAA"/>
                </a:solidFill>
                <a:latin typeface="Calibri"/>
                <a:ea typeface="Calibri"/>
                <a:cs typeface="Calibri"/>
                <a:sym typeface="Calibri"/>
              </a:rPr>
              <a:t>Data Cleaning, Exploratory Data Analysis (EDA), Insight &amp; Storytelling</a:t>
            </a:r>
            <a:endParaRPr b="1" i="0" sz="1300" u="none" cap="none" strike="noStrike">
              <a:solidFill>
                <a:schemeClr val="dk1"/>
              </a:solidFill>
              <a:latin typeface="Calibri"/>
              <a:ea typeface="Calibri"/>
              <a:cs typeface="Calibri"/>
              <a:sym typeface="Calibri"/>
            </a:endParaRPr>
          </a:p>
        </p:txBody>
      </p:sp>
      <p:sp>
        <p:nvSpPr>
          <p:cNvPr id="32" name="Google Shape;32;g3e6aa49a26a_0_42"/>
          <p:cNvSpPr/>
          <p:nvPr/>
        </p:nvSpPr>
        <p:spPr>
          <a:xfrm>
            <a:off x="586050" y="2284000"/>
            <a:ext cx="49677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AAAAA"/>
              </a:buClr>
              <a:buSzPts val="1300"/>
              <a:buFont typeface="Calibri"/>
              <a:buNone/>
            </a:pPr>
            <a:r>
              <a:rPr b="1" lang="en-US" sz="1300">
                <a:solidFill>
                  <a:srgbClr val="AAAAAA"/>
                </a:solidFill>
                <a:latin typeface="Calibri"/>
                <a:ea typeface="Calibri"/>
                <a:cs typeface="Calibri"/>
                <a:sym typeface="Calibri"/>
              </a:rPr>
              <a:t> </a:t>
            </a:r>
            <a:r>
              <a:rPr b="1" lang="en-US" sz="1300">
                <a:solidFill>
                  <a:srgbClr val="AAAAAA"/>
                </a:solidFill>
                <a:latin typeface="Calibri"/>
                <a:ea typeface="Calibri"/>
                <a:cs typeface="Calibri"/>
                <a:sym typeface="Calibri"/>
              </a:rPr>
              <a:t>Portofolio</a:t>
            </a:r>
            <a:r>
              <a:rPr b="1" lang="en-US" sz="1300">
                <a:solidFill>
                  <a:srgbClr val="AAAAAA"/>
                </a:solidFill>
                <a:latin typeface="Calibri"/>
                <a:ea typeface="Calibri"/>
                <a:cs typeface="Calibri"/>
                <a:sym typeface="Calibri"/>
              </a:rPr>
              <a:t> Purpose: Melamar kerja sebagai Data Analyst</a:t>
            </a:r>
            <a:endParaRPr b="1" sz="1300">
              <a:solidFill>
                <a:srgbClr val="AAAAAA"/>
              </a:solidFill>
              <a:latin typeface="Calibri"/>
              <a:ea typeface="Calibri"/>
              <a:cs typeface="Calibri"/>
              <a:sym typeface="Calibri"/>
            </a:endParaRPr>
          </a:p>
        </p:txBody>
      </p:sp>
      <p:sp>
        <p:nvSpPr>
          <p:cNvPr id="33" name="Google Shape;33;g3e6aa49a26a_0_42"/>
          <p:cNvSpPr/>
          <p:nvPr/>
        </p:nvSpPr>
        <p:spPr>
          <a:xfrm>
            <a:off x="586040" y="3254643"/>
            <a:ext cx="27819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AAAAA"/>
              </a:buClr>
              <a:buSzPts val="1300"/>
              <a:buFont typeface="Calibri"/>
              <a:buNone/>
            </a:pPr>
            <a:r>
              <a:rPr b="1" lang="en-US" sz="1300">
                <a:solidFill>
                  <a:srgbClr val="AAAAAA"/>
                </a:solidFill>
                <a:latin typeface="Calibri"/>
                <a:ea typeface="Calibri"/>
                <a:cs typeface="Calibri"/>
                <a:sym typeface="Calibri"/>
              </a:rPr>
              <a:t>Case Study Data Analysis</a:t>
            </a:r>
            <a:endParaRPr b="1" i="0" sz="13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1414"/>
        </a:solidFill>
      </p:bgPr>
    </p:bg>
    <p:spTree>
      <p:nvGrpSpPr>
        <p:cNvPr id="38" name="Shape 38"/>
        <p:cNvGrpSpPr/>
        <p:nvPr/>
      </p:nvGrpSpPr>
      <p:grpSpPr>
        <a:xfrm>
          <a:off x="0" y="0"/>
          <a:ext cx="0" cy="0"/>
          <a:chOff x="0" y="0"/>
          <a:chExt cx="0" cy="0"/>
        </a:xfrm>
      </p:grpSpPr>
      <p:sp>
        <p:nvSpPr>
          <p:cNvPr id="39" name="Google Shape;39;g3d96455d47c_1_0"/>
          <p:cNvSpPr/>
          <p:nvPr/>
        </p:nvSpPr>
        <p:spPr>
          <a:xfrm>
            <a:off x="0" y="0"/>
            <a:ext cx="164700" cy="5143500"/>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g3d96455d47c_1_0"/>
          <p:cNvSpPr/>
          <p:nvPr/>
        </p:nvSpPr>
        <p:spPr>
          <a:xfrm>
            <a:off x="418525" y="119790"/>
            <a:ext cx="8229600" cy="118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5200"/>
              <a:buFont typeface="Arial Black"/>
              <a:buNone/>
            </a:pPr>
            <a:r>
              <a:rPr b="1" lang="en-US" sz="5200">
                <a:solidFill>
                  <a:srgbClr val="FFFFFF"/>
                </a:solidFill>
                <a:latin typeface="Arial Black"/>
                <a:ea typeface="Arial Black"/>
                <a:cs typeface="Arial Black"/>
                <a:sym typeface="Arial Black"/>
              </a:rPr>
              <a:t>ABOUT ME</a:t>
            </a:r>
            <a:endParaRPr b="0" i="0" sz="5200" u="none" cap="none" strike="noStrike">
              <a:solidFill>
                <a:schemeClr val="dk1"/>
              </a:solidFill>
              <a:latin typeface="Calibri"/>
              <a:ea typeface="Calibri"/>
              <a:cs typeface="Calibri"/>
              <a:sym typeface="Calibri"/>
            </a:endParaRPr>
          </a:p>
        </p:txBody>
      </p:sp>
      <p:sp>
        <p:nvSpPr>
          <p:cNvPr id="41" name="Google Shape;41;g3d96455d47c_1_0"/>
          <p:cNvSpPr/>
          <p:nvPr/>
        </p:nvSpPr>
        <p:spPr>
          <a:xfrm>
            <a:off x="3200400" y="1143242"/>
            <a:ext cx="2743200" cy="45600"/>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g3d96455d47c_1_0"/>
          <p:cNvSpPr/>
          <p:nvPr/>
        </p:nvSpPr>
        <p:spPr>
          <a:xfrm>
            <a:off x="418525" y="1819187"/>
            <a:ext cx="82296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AAAAA"/>
              </a:buClr>
              <a:buSzPts val="1300"/>
              <a:buFont typeface="Calibri"/>
              <a:buNone/>
            </a:pPr>
            <a:r>
              <a:rPr b="1" lang="en-US" sz="1300">
                <a:solidFill>
                  <a:srgbClr val="AAAAAA"/>
                </a:solidFill>
                <a:latin typeface="Calibri"/>
                <a:ea typeface="Calibri"/>
                <a:cs typeface="Calibri"/>
                <a:sym typeface="Calibri"/>
              </a:rPr>
              <a:t>Data Analyst | </a:t>
            </a:r>
            <a:r>
              <a:rPr b="1" lang="en-US" sz="1300">
                <a:solidFill>
                  <a:srgbClr val="AAAAAA"/>
                </a:solidFill>
                <a:latin typeface="Calibri"/>
                <a:ea typeface="Calibri"/>
                <a:cs typeface="Calibri"/>
                <a:sym typeface="Calibri"/>
              </a:rPr>
              <a:t>Data Enthusiast</a:t>
            </a:r>
            <a:endParaRPr b="1" i="0" sz="1300" u="none" cap="none" strike="noStrike">
              <a:solidFill>
                <a:schemeClr val="dk1"/>
              </a:solidFill>
              <a:latin typeface="Calibri"/>
              <a:ea typeface="Calibri"/>
              <a:cs typeface="Calibri"/>
              <a:sym typeface="Calibri"/>
            </a:endParaRPr>
          </a:p>
        </p:txBody>
      </p:sp>
      <p:sp>
        <p:nvSpPr>
          <p:cNvPr id="43" name="Google Shape;43;g3d96455d47c_1_0"/>
          <p:cNvSpPr/>
          <p:nvPr/>
        </p:nvSpPr>
        <p:spPr>
          <a:xfrm>
            <a:off x="593775" y="2914600"/>
            <a:ext cx="8276100" cy="848400"/>
          </a:xfrm>
          <a:prstGeom prst="rect">
            <a:avLst/>
          </a:prstGeom>
          <a:noFill/>
          <a:ln>
            <a:noFill/>
          </a:ln>
        </p:spPr>
        <p:txBody>
          <a:bodyPr anchorCtr="0" anchor="ctr" bIns="0" lIns="0" spcFirstLastPara="1" rIns="0" wrap="square" tIns="0">
            <a:noAutofit/>
          </a:bodyPr>
          <a:lstStyle/>
          <a:p>
            <a:pPr indent="0" lvl="0" marL="0" rtl="0" algn="just">
              <a:spcBef>
                <a:spcPts val="0"/>
              </a:spcBef>
              <a:spcAft>
                <a:spcPts val="0"/>
              </a:spcAft>
              <a:buClr>
                <a:schemeClr val="dk1"/>
              </a:buClr>
              <a:buSzPts val="1100"/>
              <a:buFont typeface="Arial"/>
              <a:buNone/>
            </a:pPr>
            <a:r>
              <a:rPr b="1" lang="en-US" sz="1200">
                <a:solidFill>
                  <a:srgbClr val="AAAAAA"/>
                </a:solidFill>
                <a:latin typeface="Calibri"/>
                <a:ea typeface="Calibri"/>
                <a:cs typeface="Calibri"/>
                <a:sym typeface="Calibri"/>
              </a:rPr>
              <a:t>Saya adalah seorang Data Analyst yang berfokus mengubah data menjadi insight yang actionable untuk mendukung keputusan bisnis. Analisis menggunakan Python, Pandas, serta visualisasi dengan Matplotlib dan Seaborn. Memiliki minat pada analisis </a:t>
            </a:r>
            <a:r>
              <a:rPr b="1" lang="en-US" sz="1200">
                <a:solidFill>
                  <a:srgbClr val="AAAAAA"/>
                </a:solidFill>
                <a:latin typeface="Calibri"/>
                <a:ea typeface="Calibri"/>
                <a:cs typeface="Calibri"/>
                <a:sym typeface="Calibri"/>
              </a:rPr>
              <a:t>trend</a:t>
            </a:r>
            <a:r>
              <a:rPr b="1" lang="en-US" sz="1200">
                <a:solidFill>
                  <a:srgbClr val="AAAAAA"/>
                </a:solidFill>
                <a:latin typeface="Calibri"/>
                <a:ea typeface="Calibri"/>
                <a:cs typeface="Calibri"/>
                <a:sym typeface="Calibri"/>
              </a:rPr>
              <a:t>, perilaku pengguna, dan optimasi strategi berbasis data.</a:t>
            </a:r>
            <a:endParaRPr b="1" sz="1200">
              <a:solidFill>
                <a:srgbClr val="AAAAAA"/>
              </a:solidFill>
              <a:latin typeface="Calibri"/>
              <a:ea typeface="Calibri"/>
              <a:cs typeface="Calibri"/>
              <a:sym typeface="Calibri"/>
            </a:endParaRPr>
          </a:p>
          <a:p>
            <a:pPr indent="0" lvl="0" marL="0" marR="0" rtl="0" algn="ctr">
              <a:spcBef>
                <a:spcPts val="0"/>
              </a:spcBef>
              <a:spcAft>
                <a:spcPts val="0"/>
              </a:spcAft>
              <a:buClr>
                <a:srgbClr val="AAAAAA"/>
              </a:buClr>
              <a:buSzPts val="1000"/>
              <a:buFont typeface="Calibri"/>
              <a:buNone/>
            </a:pPr>
            <a:r>
              <a:t/>
            </a:r>
            <a:endParaRPr sz="1000">
              <a:solidFill>
                <a:srgbClr val="AAAAAA"/>
              </a:solidFill>
              <a:latin typeface="Calibri"/>
              <a:ea typeface="Calibri"/>
              <a:cs typeface="Calibri"/>
              <a:sym typeface="Calibri"/>
            </a:endParaRPr>
          </a:p>
        </p:txBody>
      </p:sp>
      <p:sp>
        <p:nvSpPr>
          <p:cNvPr id="44" name="Google Shape;44;g3d96455d47c_1_0"/>
          <p:cNvSpPr/>
          <p:nvPr/>
        </p:nvSpPr>
        <p:spPr>
          <a:xfrm>
            <a:off x="457200" y="4681728"/>
            <a:ext cx="82296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AAAAA"/>
              </a:buClr>
              <a:buSzPts val="1000"/>
              <a:buFont typeface="Calibri"/>
              <a:buNone/>
            </a:pPr>
            <a:r>
              <a:rPr lang="en-US" sz="1000">
                <a:solidFill>
                  <a:srgbClr val="AAAAAA"/>
                </a:solidFill>
                <a:latin typeface="Calibri"/>
                <a:ea typeface="Calibri"/>
                <a:cs typeface="Calibri"/>
                <a:sym typeface="Calibri"/>
              </a:rPr>
              <a:t>Ahmad Faizal</a:t>
            </a:r>
            <a:r>
              <a:rPr b="0" i="0" lang="en-US" sz="1000" u="none" cap="none" strike="noStrike">
                <a:solidFill>
                  <a:srgbClr val="AAAAAA"/>
                </a:solidFill>
                <a:latin typeface="Calibri"/>
                <a:ea typeface="Calibri"/>
                <a:cs typeface="Calibri"/>
                <a:sym typeface="Calibri"/>
              </a:rPr>
              <a:t>  ·  Data Analyst  ·  </a:t>
            </a:r>
            <a:r>
              <a:rPr lang="en-US" sz="1000">
                <a:solidFill>
                  <a:srgbClr val="AAAAAA"/>
                </a:solidFill>
                <a:latin typeface="Calibri"/>
                <a:ea typeface="Calibri"/>
                <a:cs typeface="Calibri"/>
                <a:sym typeface="Calibri"/>
              </a:rPr>
              <a:t>4ahmadfaizal9@gmail.com</a:t>
            </a:r>
            <a:r>
              <a:rPr b="0" i="0" lang="en-US" sz="1000" u="none" cap="none" strike="noStrike">
                <a:solidFill>
                  <a:srgbClr val="AAAAAA"/>
                </a:solidFill>
                <a:latin typeface="Calibri"/>
                <a:ea typeface="Calibri"/>
                <a:cs typeface="Calibri"/>
                <a:sym typeface="Calibri"/>
              </a:rPr>
              <a:t>  ·  github.com/</a:t>
            </a:r>
            <a:r>
              <a:rPr b="0" i="0" lang="en-US" sz="1000" u="none" cap="none" strike="noStrike">
                <a:solidFill>
                  <a:srgbClr val="AAAAAA"/>
                </a:solidFill>
                <a:latin typeface="Calibri"/>
                <a:ea typeface="Calibri"/>
                <a:cs typeface="Calibri"/>
                <a:sym typeface="Calibri"/>
              </a:rPr>
              <a:t>[username]</a:t>
            </a:r>
            <a:endParaRPr b="0" i="0" sz="1000" u="none" cap="none" strike="noStrike">
              <a:solidFill>
                <a:schemeClr val="dk1"/>
              </a:solidFill>
              <a:latin typeface="Calibri"/>
              <a:ea typeface="Calibri"/>
              <a:cs typeface="Calibri"/>
              <a:sym typeface="Calibri"/>
            </a:endParaRPr>
          </a:p>
        </p:txBody>
      </p:sp>
      <p:sp>
        <p:nvSpPr>
          <p:cNvPr id="45" name="Google Shape;45;g3d96455d47c_1_0"/>
          <p:cNvSpPr/>
          <p:nvPr/>
        </p:nvSpPr>
        <p:spPr>
          <a:xfrm>
            <a:off x="418532" y="2305066"/>
            <a:ext cx="82296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AAAAA"/>
              </a:buClr>
              <a:buSzPts val="1300"/>
              <a:buFont typeface="Calibri"/>
              <a:buNone/>
            </a:pPr>
            <a:r>
              <a:rPr b="1" lang="en-US" sz="1300">
                <a:solidFill>
                  <a:srgbClr val="AAAAAA"/>
                </a:solidFill>
                <a:latin typeface="Calibri"/>
                <a:ea typeface="Calibri"/>
                <a:cs typeface="Calibri"/>
                <a:sym typeface="Calibri"/>
              </a:rPr>
              <a:t>Skills: Python | SQL | Data Visualization</a:t>
            </a:r>
            <a:endParaRPr b="1" i="0" sz="1300" u="none" cap="none" strike="noStrike">
              <a:solidFill>
                <a:schemeClr val="dk1"/>
              </a:solidFill>
              <a:latin typeface="Calibri"/>
              <a:ea typeface="Calibri"/>
              <a:cs typeface="Calibri"/>
              <a:sym typeface="Calibri"/>
            </a:endParaRPr>
          </a:p>
        </p:txBody>
      </p:sp>
      <p:sp>
        <p:nvSpPr>
          <p:cNvPr id="46" name="Google Shape;46;g3d96455d47c_1_0"/>
          <p:cNvSpPr/>
          <p:nvPr/>
        </p:nvSpPr>
        <p:spPr>
          <a:xfrm>
            <a:off x="420138" y="1343309"/>
            <a:ext cx="82296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AAAAA"/>
              </a:buClr>
              <a:buSzPts val="1300"/>
              <a:buFont typeface="Calibri"/>
              <a:buNone/>
            </a:pPr>
            <a:r>
              <a:rPr b="1" lang="en-US" sz="3200">
                <a:solidFill>
                  <a:schemeClr val="lt1"/>
                </a:solidFill>
                <a:latin typeface="Calibri"/>
                <a:ea typeface="Calibri"/>
                <a:cs typeface="Calibri"/>
                <a:sym typeface="Calibri"/>
              </a:rPr>
              <a:t>Ahmad Faizal</a:t>
            </a:r>
            <a:endParaRPr b="1" i="0" sz="3200" u="none" cap="none" strike="noStrike">
              <a:solidFill>
                <a:schemeClr val="lt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 name="Shape 51"/>
        <p:cNvGrpSpPr/>
        <p:nvPr/>
      </p:nvGrpSpPr>
      <p:grpSpPr>
        <a:xfrm>
          <a:off x="0" y="0"/>
          <a:ext cx="0" cy="0"/>
          <a:chOff x="0" y="0"/>
          <a:chExt cx="0" cy="0"/>
        </a:xfrm>
      </p:grpSpPr>
      <p:sp>
        <p:nvSpPr>
          <p:cNvPr id="52" name="Google Shape;52;p2"/>
          <p:cNvSpPr/>
          <p:nvPr/>
        </p:nvSpPr>
        <p:spPr>
          <a:xfrm>
            <a:off x="0" y="0"/>
            <a:ext cx="9144000" cy="1051560"/>
          </a:xfrm>
          <a:prstGeom prst="rect">
            <a:avLst/>
          </a:prstGeom>
          <a:solidFill>
            <a:srgbClr val="1414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2"/>
          <p:cNvSpPr/>
          <p:nvPr/>
        </p:nvSpPr>
        <p:spPr>
          <a:xfrm>
            <a:off x="457200" y="73152"/>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000"/>
              <a:buFont typeface="Calibri"/>
              <a:buNone/>
            </a:pPr>
            <a:r>
              <a:rPr b="1" i="0" lang="en-US" sz="1000" u="none" cap="none" strike="noStrike">
                <a:solidFill>
                  <a:srgbClr val="E50914"/>
                </a:solidFill>
                <a:latin typeface="Calibri"/>
                <a:ea typeface="Calibri"/>
                <a:cs typeface="Calibri"/>
                <a:sym typeface="Calibri"/>
              </a:rPr>
              <a:t>01  /  SITUATION</a:t>
            </a:r>
            <a:endParaRPr b="0" i="0" sz="1000" u="none" cap="none" strike="noStrike">
              <a:solidFill>
                <a:schemeClr val="dk1"/>
              </a:solidFill>
              <a:latin typeface="Calibri"/>
              <a:ea typeface="Calibri"/>
              <a:cs typeface="Calibri"/>
              <a:sym typeface="Calibri"/>
            </a:endParaRPr>
          </a:p>
        </p:txBody>
      </p:sp>
      <p:sp>
        <p:nvSpPr>
          <p:cNvPr id="54" name="Google Shape;54;p2"/>
          <p:cNvSpPr/>
          <p:nvPr/>
        </p:nvSpPr>
        <p:spPr>
          <a:xfrm>
            <a:off x="457200" y="347472"/>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600"/>
              <a:buFont typeface="Arial Black"/>
              <a:buNone/>
            </a:pPr>
            <a:r>
              <a:rPr b="1" i="0" lang="en-US" sz="2600" u="none" cap="none" strike="noStrike">
                <a:solidFill>
                  <a:srgbClr val="FFFFFF"/>
                </a:solidFill>
                <a:latin typeface="Arial Black"/>
                <a:ea typeface="Arial Black"/>
                <a:cs typeface="Arial Black"/>
                <a:sym typeface="Arial Black"/>
              </a:rPr>
              <a:t>Konteks Bisnis Netflix</a:t>
            </a:r>
            <a:endParaRPr b="0" i="0" sz="2600" u="none" cap="none" strike="noStrike">
              <a:solidFill>
                <a:schemeClr val="dk1"/>
              </a:solidFill>
              <a:latin typeface="Calibri"/>
              <a:ea typeface="Calibri"/>
              <a:cs typeface="Calibri"/>
              <a:sym typeface="Calibri"/>
            </a:endParaRPr>
          </a:p>
        </p:txBody>
      </p:sp>
      <p:sp>
        <p:nvSpPr>
          <p:cNvPr id="55" name="Google Shape;55;p2"/>
          <p:cNvSpPr/>
          <p:nvPr/>
        </p:nvSpPr>
        <p:spPr>
          <a:xfrm>
            <a:off x="457200" y="1188720"/>
            <a:ext cx="5120640" cy="1371600"/>
          </a:xfrm>
          <a:prstGeom prst="rect">
            <a:avLst/>
          </a:prstGeom>
          <a:noFill/>
          <a:ln>
            <a:noFill/>
          </a:ln>
        </p:spPr>
        <p:txBody>
          <a:bodyPr anchorCtr="0" anchor="ctr" bIns="0" lIns="0" spcFirstLastPara="1" rIns="0" wrap="square" tIns="0">
            <a:noAutofit/>
          </a:bodyPr>
          <a:lstStyle/>
          <a:p>
            <a:pPr indent="0" lvl="0" marL="0" marR="0" rtl="0" algn="l">
              <a:lnSpc>
                <a:spcPct val="150000"/>
              </a:lnSpc>
              <a:spcBef>
                <a:spcPts val="0"/>
              </a:spcBef>
              <a:spcAft>
                <a:spcPts val="0"/>
              </a:spcAft>
              <a:buClr>
                <a:srgbClr val="333333"/>
              </a:buClr>
              <a:buSzPts val="1200"/>
              <a:buFont typeface="Calibri"/>
              <a:buNone/>
            </a:pPr>
            <a:r>
              <a:rPr b="0" i="0" lang="en-US" sz="1200" u="none" cap="none" strike="noStrike">
                <a:solidFill>
                  <a:srgbClr val="333333"/>
                </a:solidFill>
                <a:latin typeface="Calibri"/>
                <a:ea typeface="Calibri"/>
                <a:cs typeface="Calibri"/>
                <a:sym typeface="Calibri"/>
              </a:rPr>
              <a:t>Netflix </a:t>
            </a:r>
            <a:r>
              <a:rPr lang="en-US" sz="1200">
                <a:solidFill>
                  <a:srgbClr val="333333"/>
                </a:solidFill>
                <a:latin typeface="Calibri"/>
                <a:ea typeface="Calibri"/>
                <a:cs typeface="Calibri"/>
                <a:sym typeface="Calibri"/>
              </a:rPr>
              <a:t>merupakan</a:t>
            </a:r>
            <a:r>
              <a:rPr b="0" i="0" lang="en-US" sz="1200" u="none" cap="none" strike="noStrike">
                <a:solidFill>
                  <a:srgbClr val="333333"/>
                </a:solidFill>
                <a:latin typeface="Calibri"/>
                <a:ea typeface="Calibri"/>
                <a:cs typeface="Calibri"/>
                <a:sym typeface="Calibri"/>
              </a:rPr>
              <a:t> platform streaming terbesar di dunia dengan lebih dari 270 juta subscriber aktif di 190+ negara. Di tengah persaingan ketat dari Disney+, HBO Max, dan Amazon Prime, pemahaman mendalam tentang strategi konten menjadi kunci untuk mempertahankan dominasi pasar global.</a:t>
            </a:r>
            <a:endParaRPr b="0" i="0" sz="1200" u="none" cap="none" strike="noStrike">
              <a:solidFill>
                <a:schemeClr val="dk1"/>
              </a:solidFill>
              <a:latin typeface="Calibri"/>
              <a:ea typeface="Calibri"/>
              <a:cs typeface="Calibri"/>
              <a:sym typeface="Calibri"/>
            </a:endParaRPr>
          </a:p>
        </p:txBody>
      </p:sp>
      <p:sp>
        <p:nvSpPr>
          <p:cNvPr id="56" name="Google Shape;56;p2"/>
          <p:cNvSpPr/>
          <p:nvPr/>
        </p:nvSpPr>
        <p:spPr>
          <a:xfrm>
            <a:off x="457200" y="2743200"/>
            <a:ext cx="1170432" cy="1463040"/>
          </a:xfrm>
          <a:prstGeom prst="rect">
            <a:avLst/>
          </a:prstGeom>
          <a:solidFill>
            <a:srgbClr val="113CC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2"/>
          <p:cNvSpPr/>
          <p:nvPr/>
        </p:nvSpPr>
        <p:spPr>
          <a:xfrm>
            <a:off x="457200" y="2852928"/>
            <a:ext cx="117043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Disney+</a:t>
            </a:r>
            <a:endParaRPr b="0" i="0" sz="1100" u="none" cap="none" strike="noStrike">
              <a:solidFill>
                <a:schemeClr val="dk1"/>
              </a:solidFill>
              <a:latin typeface="Calibri"/>
              <a:ea typeface="Calibri"/>
              <a:cs typeface="Calibri"/>
              <a:sym typeface="Calibri"/>
            </a:endParaRPr>
          </a:p>
        </p:txBody>
      </p:sp>
      <p:sp>
        <p:nvSpPr>
          <p:cNvPr id="58" name="Google Shape;58;p2"/>
          <p:cNvSpPr/>
          <p:nvPr/>
        </p:nvSpPr>
        <p:spPr>
          <a:xfrm>
            <a:off x="457200" y="3291840"/>
            <a:ext cx="1170432"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Black"/>
              <a:buNone/>
            </a:pPr>
            <a:r>
              <a:rPr b="1" i="0" lang="en-US" sz="2200" u="none" cap="none" strike="noStrike">
                <a:solidFill>
                  <a:srgbClr val="FFFFFF"/>
                </a:solidFill>
                <a:latin typeface="Arial Black"/>
                <a:ea typeface="Arial Black"/>
                <a:cs typeface="Arial Black"/>
                <a:sym typeface="Arial Black"/>
              </a:rPr>
              <a:t>157M</a:t>
            </a:r>
            <a:endParaRPr b="0" i="0" sz="2200" u="none" cap="none" strike="noStrike">
              <a:solidFill>
                <a:schemeClr val="dk1"/>
              </a:solidFill>
              <a:latin typeface="Calibri"/>
              <a:ea typeface="Calibri"/>
              <a:cs typeface="Calibri"/>
              <a:sym typeface="Calibri"/>
            </a:endParaRPr>
          </a:p>
        </p:txBody>
      </p:sp>
      <p:sp>
        <p:nvSpPr>
          <p:cNvPr id="59" name="Google Shape;59;p2"/>
          <p:cNvSpPr/>
          <p:nvPr/>
        </p:nvSpPr>
        <p:spPr>
          <a:xfrm>
            <a:off x="457200" y="3840480"/>
            <a:ext cx="1170432"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subs</a:t>
            </a:r>
            <a:endParaRPr b="0" i="0" sz="900" u="none" cap="none" strike="noStrike">
              <a:solidFill>
                <a:schemeClr val="dk1"/>
              </a:solidFill>
              <a:latin typeface="Calibri"/>
              <a:ea typeface="Calibri"/>
              <a:cs typeface="Calibri"/>
              <a:sym typeface="Calibri"/>
            </a:endParaRPr>
          </a:p>
        </p:txBody>
      </p:sp>
      <p:sp>
        <p:nvSpPr>
          <p:cNvPr id="60" name="Google Shape;60;p2"/>
          <p:cNvSpPr/>
          <p:nvPr/>
        </p:nvSpPr>
        <p:spPr>
          <a:xfrm>
            <a:off x="1755648" y="2743200"/>
            <a:ext cx="1170432" cy="1463040"/>
          </a:xfrm>
          <a:prstGeom prst="rect">
            <a:avLst/>
          </a:prstGeom>
          <a:solidFill>
            <a:srgbClr val="5D1F8A"/>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2"/>
          <p:cNvSpPr/>
          <p:nvPr/>
        </p:nvSpPr>
        <p:spPr>
          <a:xfrm>
            <a:off x="1755648" y="2852928"/>
            <a:ext cx="117043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HBO Max</a:t>
            </a:r>
            <a:endParaRPr b="0" i="0" sz="1100" u="none" cap="none" strike="noStrike">
              <a:solidFill>
                <a:schemeClr val="dk1"/>
              </a:solidFill>
              <a:latin typeface="Calibri"/>
              <a:ea typeface="Calibri"/>
              <a:cs typeface="Calibri"/>
              <a:sym typeface="Calibri"/>
            </a:endParaRPr>
          </a:p>
        </p:txBody>
      </p:sp>
      <p:sp>
        <p:nvSpPr>
          <p:cNvPr id="62" name="Google Shape;62;p2"/>
          <p:cNvSpPr/>
          <p:nvPr/>
        </p:nvSpPr>
        <p:spPr>
          <a:xfrm>
            <a:off x="1755648" y="3291840"/>
            <a:ext cx="1170432"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Black"/>
              <a:buNone/>
            </a:pPr>
            <a:r>
              <a:rPr b="1" i="0" lang="en-US" sz="2200" u="none" cap="none" strike="noStrike">
                <a:solidFill>
                  <a:srgbClr val="FFFFFF"/>
                </a:solidFill>
                <a:latin typeface="Arial Black"/>
                <a:ea typeface="Arial Black"/>
                <a:cs typeface="Arial Black"/>
                <a:sym typeface="Arial Black"/>
              </a:rPr>
              <a:t>95M</a:t>
            </a:r>
            <a:endParaRPr b="0" i="0" sz="2200" u="none" cap="none" strike="noStrike">
              <a:solidFill>
                <a:schemeClr val="dk1"/>
              </a:solidFill>
              <a:latin typeface="Calibri"/>
              <a:ea typeface="Calibri"/>
              <a:cs typeface="Calibri"/>
              <a:sym typeface="Calibri"/>
            </a:endParaRPr>
          </a:p>
        </p:txBody>
      </p:sp>
      <p:sp>
        <p:nvSpPr>
          <p:cNvPr id="63" name="Google Shape;63;p2"/>
          <p:cNvSpPr/>
          <p:nvPr/>
        </p:nvSpPr>
        <p:spPr>
          <a:xfrm>
            <a:off x="1755648" y="3840480"/>
            <a:ext cx="1170432"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subs</a:t>
            </a:r>
            <a:endParaRPr b="0" i="0" sz="900" u="none" cap="none" strike="noStrike">
              <a:solidFill>
                <a:schemeClr val="dk1"/>
              </a:solidFill>
              <a:latin typeface="Calibri"/>
              <a:ea typeface="Calibri"/>
              <a:cs typeface="Calibri"/>
              <a:sym typeface="Calibri"/>
            </a:endParaRPr>
          </a:p>
        </p:txBody>
      </p:sp>
      <p:sp>
        <p:nvSpPr>
          <p:cNvPr id="64" name="Google Shape;64;p2"/>
          <p:cNvSpPr/>
          <p:nvPr/>
        </p:nvSpPr>
        <p:spPr>
          <a:xfrm>
            <a:off x="3054096" y="2743200"/>
            <a:ext cx="1170432" cy="1463040"/>
          </a:xfrm>
          <a:prstGeom prst="rect">
            <a:avLst/>
          </a:prstGeom>
          <a:solidFill>
            <a:srgbClr val="FF990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2"/>
          <p:cNvSpPr/>
          <p:nvPr/>
        </p:nvSpPr>
        <p:spPr>
          <a:xfrm>
            <a:off x="3054096" y="2852928"/>
            <a:ext cx="117043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Amazon</a:t>
            </a:r>
            <a:endParaRPr b="0" i="0" sz="1100" u="none" cap="none" strike="noStrike">
              <a:solidFill>
                <a:schemeClr val="dk1"/>
              </a:solidFill>
              <a:latin typeface="Calibri"/>
              <a:ea typeface="Calibri"/>
              <a:cs typeface="Calibri"/>
              <a:sym typeface="Calibri"/>
            </a:endParaRPr>
          </a:p>
        </p:txBody>
      </p:sp>
      <p:sp>
        <p:nvSpPr>
          <p:cNvPr id="66" name="Google Shape;66;p2"/>
          <p:cNvSpPr/>
          <p:nvPr/>
        </p:nvSpPr>
        <p:spPr>
          <a:xfrm>
            <a:off x="3054096" y="3291840"/>
            <a:ext cx="1170432"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Black"/>
              <a:buNone/>
            </a:pPr>
            <a:r>
              <a:rPr b="1" i="0" lang="en-US" sz="2200" u="none" cap="none" strike="noStrike">
                <a:solidFill>
                  <a:srgbClr val="FFFFFF"/>
                </a:solidFill>
                <a:latin typeface="Arial Black"/>
                <a:ea typeface="Arial Black"/>
                <a:cs typeface="Arial Black"/>
                <a:sym typeface="Arial Black"/>
              </a:rPr>
              <a:t>200M</a:t>
            </a:r>
            <a:endParaRPr b="0" i="0" sz="2200" u="none" cap="none" strike="noStrike">
              <a:solidFill>
                <a:schemeClr val="dk1"/>
              </a:solidFill>
              <a:latin typeface="Calibri"/>
              <a:ea typeface="Calibri"/>
              <a:cs typeface="Calibri"/>
              <a:sym typeface="Calibri"/>
            </a:endParaRPr>
          </a:p>
        </p:txBody>
      </p:sp>
      <p:sp>
        <p:nvSpPr>
          <p:cNvPr id="67" name="Google Shape;67;p2"/>
          <p:cNvSpPr/>
          <p:nvPr/>
        </p:nvSpPr>
        <p:spPr>
          <a:xfrm>
            <a:off x="3054096" y="3840480"/>
            <a:ext cx="1170432"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subs</a:t>
            </a:r>
            <a:endParaRPr b="0" i="0" sz="900" u="none" cap="none" strike="noStrike">
              <a:solidFill>
                <a:schemeClr val="dk1"/>
              </a:solidFill>
              <a:latin typeface="Calibri"/>
              <a:ea typeface="Calibri"/>
              <a:cs typeface="Calibri"/>
              <a:sym typeface="Calibri"/>
            </a:endParaRPr>
          </a:p>
        </p:txBody>
      </p:sp>
      <p:sp>
        <p:nvSpPr>
          <p:cNvPr id="68" name="Google Shape;68;p2"/>
          <p:cNvSpPr/>
          <p:nvPr/>
        </p:nvSpPr>
        <p:spPr>
          <a:xfrm>
            <a:off x="4352544" y="2743200"/>
            <a:ext cx="1170432" cy="1463040"/>
          </a:xfrm>
          <a:prstGeom prst="rect">
            <a:avLst/>
          </a:prstGeom>
          <a:solidFill>
            <a:srgbClr val="E50914"/>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2"/>
          <p:cNvSpPr/>
          <p:nvPr/>
        </p:nvSpPr>
        <p:spPr>
          <a:xfrm>
            <a:off x="4352544" y="2852928"/>
            <a:ext cx="117043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Netflix</a:t>
            </a:r>
            <a:endParaRPr b="0" i="0" sz="1100" u="none" cap="none" strike="noStrike">
              <a:solidFill>
                <a:schemeClr val="dk1"/>
              </a:solidFill>
              <a:latin typeface="Calibri"/>
              <a:ea typeface="Calibri"/>
              <a:cs typeface="Calibri"/>
              <a:sym typeface="Calibri"/>
            </a:endParaRPr>
          </a:p>
        </p:txBody>
      </p:sp>
      <p:sp>
        <p:nvSpPr>
          <p:cNvPr id="70" name="Google Shape;70;p2"/>
          <p:cNvSpPr/>
          <p:nvPr/>
        </p:nvSpPr>
        <p:spPr>
          <a:xfrm>
            <a:off x="4352544" y="3291840"/>
            <a:ext cx="1170432"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Black"/>
              <a:buNone/>
            </a:pPr>
            <a:r>
              <a:rPr b="1" i="0" lang="en-US" sz="2200" u="none" cap="none" strike="noStrike">
                <a:solidFill>
                  <a:srgbClr val="FFFFFF"/>
                </a:solidFill>
                <a:latin typeface="Arial Black"/>
                <a:ea typeface="Arial Black"/>
                <a:cs typeface="Arial Black"/>
                <a:sym typeface="Arial Black"/>
              </a:rPr>
              <a:t>270M</a:t>
            </a:r>
            <a:endParaRPr b="0" i="0" sz="2200" u="none" cap="none" strike="noStrike">
              <a:solidFill>
                <a:schemeClr val="dk1"/>
              </a:solidFill>
              <a:latin typeface="Calibri"/>
              <a:ea typeface="Calibri"/>
              <a:cs typeface="Calibri"/>
              <a:sym typeface="Calibri"/>
            </a:endParaRPr>
          </a:p>
        </p:txBody>
      </p:sp>
      <p:sp>
        <p:nvSpPr>
          <p:cNvPr id="71" name="Google Shape;71;p2"/>
          <p:cNvSpPr/>
          <p:nvPr/>
        </p:nvSpPr>
        <p:spPr>
          <a:xfrm>
            <a:off x="4352544" y="3840480"/>
            <a:ext cx="1170432"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subs</a:t>
            </a:r>
            <a:endParaRPr b="0" i="0" sz="900" u="none" cap="none" strike="noStrike">
              <a:solidFill>
                <a:schemeClr val="dk1"/>
              </a:solidFill>
              <a:latin typeface="Calibri"/>
              <a:ea typeface="Calibri"/>
              <a:cs typeface="Calibri"/>
              <a:sym typeface="Calibri"/>
            </a:endParaRPr>
          </a:p>
        </p:txBody>
      </p:sp>
      <p:sp>
        <p:nvSpPr>
          <p:cNvPr id="72" name="Google Shape;72;p2"/>
          <p:cNvSpPr/>
          <p:nvPr/>
        </p:nvSpPr>
        <p:spPr>
          <a:xfrm>
            <a:off x="457200" y="4343400"/>
            <a:ext cx="54864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AAAAA"/>
              </a:buClr>
              <a:buSzPts val="800"/>
              <a:buFont typeface="Calibri"/>
              <a:buNone/>
            </a:pPr>
            <a:r>
              <a:rPr b="0" i="0" lang="en-US" sz="800" u="none" cap="none" strike="noStrike">
                <a:solidFill>
                  <a:srgbClr val="AAAAAA"/>
                </a:solidFill>
                <a:latin typeface="Calibri"/>
                <a:ea typeface="Calibri"/>
                <a:cs typeface="Calibri"/>
                <a:sym typeface="Calibri"/>
              </a:rPr>
              <a:t>*Estimasi 2024–2025</a:t>
            </a:r>
            <a:endParaRPr b="0" i="0" sz="800" u="none" cap="none" strike="noStrike">
              <a:solidFill>
                <a:schemeClr val="dk1"/>
              </a:solidFill>
              <a:latin typeface="Calibri"/>
              <a:ea typeface="Calibri"/>
              <a:cs typeface="Calibri"/>
              <a:sym typeface="Calibri"/>
            </a:endParaRPr>
          </a:p>
        </p:txBody>
      </p:sp>
      <p:sp>
        <p:nvSpPr>
          <p:cNvPr id="73" name="Google Shape;73;p2"/>
          <p:cNvSpPr/>
          <p:nvPr/>
        </p:nvSpPr>
        <p:spPr>
          <a:xfrm>
            <a:off x="5943600" y="1143000"/>
            <a:ext cx="2926080" cy="3749040"/>
          </a:xfrm>
          <a:prstGeom prst="rect">
            <a:avLst/>
          </a:prstGeom>
          <a:solidFill>
            <a:srgbClr val="F5F5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2"/>
          <p:cNvSpPr/>
          <p:nvPr/>
        </p:nvSpPr>
        <p:spPr>
          <a:xfrm>
            <a:off x="5943600" y="1143000"/>
            <a:ext cx="64008" cy="3749040"/>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2"/>
          <p:cNvSpPr/>
          <p:nvPr/>
        </p:nvSpPr>
        <p:spPr>
          <a:xfrm>
            <a:off x="6080760" y="1234440"/>
            <a:ext cx="26517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200"/>
              <a:buFont typeface="Calibri"/>
              <a:buNone/>
            </a:pPr>
            <a:r>
              <a:rPr b="1" i="0" lang="en-US" sz="1200" u="none" cap="none" strike="noStrike">
                <a:solidFill>
                  <a:srgbClr val="141414"/>
                </a:solidFill>
                <a:latin typeface="Calibri"/>
                <a:ea typeface="Calibri"/>
                <a:cs typeface="Calibri"/>
                <a:sym typeface="Calibri"/>
              </a:rPr>
              <a:t>Kenapa Perlu </a:t>
            </a:r>
            <a:r>
              <a:rPr b="1" lang="en-US" sz="1200">
                <a:solidFill>
                  <a:srgbClr val="141414"/>
                </a:solidFill>
                <a:latin typeface="Calibri"/>
                <a:ea typeface="Calibri"/>
                <a:cs typeface="Calibri"/>
                <a:sym typeface="Calibri"/>
              </a:rPr>
              <a:t>Dilakukakan </a:t>
            </a:r>
            <a:r>
              <a:rPr b="1" i="0" lang="en-US" sz="1200" u="none" cap="none" strike="noStrike">
                <a:solidFill>
                  <a:srgbClr val="141414"/>
                </a:solidFill>
                <a:latin typeface="Calibri"/>
                <a:ea typeface="Calibri"/>
                <a:cs typeface="Calibri"/>
                <a:sym typeface="Calibri"/>
              </a:rPr>
              <a:t>Analisis?</a:t>
            </a:r>
            <a:endParaRPr b="0" i="0" sz="1200" u="none" cap="none" strike="noStrike">
              <a:solidFill>
                <a:schemeClr val="dk1"/>
              </a:solidFill>
              <a:latin typeface="Calibri"/>
              <a:ea typeface="Calibri"/>
              <a:cs typeface="Calibri"/>
              <a:sym typeface="Calibri"/>
            </a:endParaRPr>
          </a:p>
        </p:txBody>
      </p:sp>
      <p:sp>
        <p:nvSpPr>
          <p:cNvPr id="76" name="Google Shape;76;p2"/>
          <p:cNvSpPr/>
          <p:nvPr/>
        </p:nvSpPr>
        <p:spPr>
          <a:xfrm>
            <a:off x="6080760" y="1691640"/>
            <a:ext cx="2651760" cy="658368"/>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100"/>
              <a:buFont typeface="Calibri"/>
              <a:buNone/>
            </a:pPr>
            <a:r>
              <a:rPr b="0" i="0" lang="en-US" sz="1100" u="none" cap="none" strike="noStrike">
                <a:solidFill>
                  <a:srgbClr val="333333"/>
                </a:solidFill>
                <a:latin typeface="Calibri"/>
                <a:ea typeface="Calibri"/>
                <a:cs typeface="Calibri"/>
                <a:sym typeface="Calibri"/>
              </a:rPr>
              <a:t>1. Pasar streaming makin jenuh — konten jadi diferensiator utama</a:t>
            </a:r>
            <a:endParaRPr b="0" i="0" sz="1100" u="none" cap="none" strike="noStrike">
              <a:solidFill>
                <a:schemeClr val="dk1"/>
              </a:solidFill>
              <a:latin typeface="Calibri"/>
              <a:ea typeface="Calibri"/>
              <a:cs typeface="Calibri"/>
              <a:sym typeface="Calibri"/>
            </a:endParaRPr>
          </a:p>
        </p:txBody>
      </p:sp>
      <p:sp>
        <p:nvSpPr>
          <p:cNvPr id="77" name="Google Shape;77;p2"/>
          <p:cNvSpPr/>
          <p:nvPr/>
        </p:nvSpPr>
        <p:spPr>
          <a:xfrm>
            <a:off x="6080760" y="2423160"/>
            <a:ext cx="2651760" cy="658368"/>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100"/>
              <a:buFont typeface="Calibri"/>
              <a:buNone/>
            </a:pPr>
            <a:r>
              <a:rPr b="0" i="0" lang="en-US" sz="1100" u="none" cap="none" strike="noStrike">
                <a:solidFill>
                  <a:srgbClr val="333333"/>
                </a:solidFill>
                <a:latin typeface="Calibri"/>
                <a:ea typeface="Calibri"/>
                <a:cs typeface="Calibri"/>
                <a:sym typeface="Calibri"/>
              </a:rPr>
              <a:t>2. Biaya produksi tinggi — keputusan yang diambil harus berbasis data.</a:t>
            </a:r>
            <a:endParaRPr b="0" i="0" sz="1100" u="none" cap="none" strike="noStrike">
              <a:solidFill>
                <a:schemeClr val="dk1"/>
              </a:solidFill>
              <a:latin typeface="Calibri"/>
              <a:ea typeface="Calibri"/>
              <a:cs typeface="Calibri"/>
              <a:sym typeface="Calibri"/>
            </a:endParaRPr>
          </a:p>
        </p:txBody>
      </p:sp>
      <p:sp>
        <p:nvSpPr>
          <p:cNvPr id="78" name="Google Shape;78;p2"/>
          <p:cNvSpPr/>
          <p:nvPr/>
        </p:nvSpPr>
        <p:spPr>
          <a:xfrm>
            <a:off x="6080760" y="3154680"/>
            <a:ext cx="2651760" cy="658368"/>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100"/>
              <a:buFont typeface="Calibri"/>
              <a:buNone/>
            </a:pPr>
            <a:r>
              <a:rPr b="0" i="0" lang="en-US" sz="1100" u="none" cap="none" strike="noStrike">
                <a:solidFill>
                  <a:srgbClr val="333333"/>
                </a:solidFill>
                <a:latin typeface="Calibri"/>
                <a:ea typeface="Calibri"/>
                <a:cs typeface="Calibri"/>
                <a:sym typeface="Calibri"/>
              </a:rPr>
              <a:t>3. Selera penonton terus bergeser secara global.</a:t>
            </a:r>
            <a:endParaRPr b="0" i="0" sz="1100" u="none" cap="none" strike="noStrike">
              <a:solidFill>
                <a:schemeClr val="dk1"/>
              </a:solidFill>
              <a:latin typeface="Calibri"/>
              <a:ea typeface="Calibri"/>
              <a:cs typeface="Calibri"/>
              <a:sym typeface="Calibri"/>
            </a:endParaRPr>
          </a:p>
        </p:txBody>
      </p:sp>
      <p:sp>
        <p:nvSpPr>
          <p:cNvPr id="79" name="Google Shape;79;p2"/>
          <p:cNvSpPr/>
          <p:nvPr/>
        </p:nvSpPr>
        <p:spPr>
          <a:xfrm>
            <a:off x="6080760" y="3886200"/>
            <a:ext cx="2651760" cy="658368"/>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100"/>
              <a:buFont typeface="Calibri"/>
              <a:buNone/>
            </a:pPr>
            <a:r>
              <a:rPr b="0" i="0" lang="en-US" sz="1100" u="none" cap="none" strike="noStrike">
                <a:solidFill>
                  <a:srgbClr val="333333"/>
                </a:solidFill>
                <a:latin typeface="Calibri"/>
                <a:ea typeface="Calibri"/>
                <a:cs typeface="Calibri"/>
                <a:sym typeface="Calibri"/>
              </a:rPr>
              <a:t>4. Retensi subscriber bergantung pada relevansi konten.</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3"/>
          <p:cNvSpPr/>
          <p:nvPr/>
        </p:nvSpPr>
        <p:spPr>
          <a:xfrm>
            <a:off x="0" y="0"/>
            <a:ext cx="9144000" cy="1051560"/>
          </a:xfrm>
          <a:prstGeom prst="rect">
            <a:avLst/>
          </a:prstGeom>
          <a:solidFill>
            <a:srgbClr val="1414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3"/>
          <p:cNvSpPr/>
          <p:nvPr/>
        </p:nvSpPr>
        <p:spPr>
          <a:xfrm>
            <a:off x="457200" y="73152"/>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000"/>
              <a:buFont typeface="Calibri"/>
              <a:buNone/>
            </a:pPr>
            <a:r>
              <a:rPr b="1" i="0" lang="en-US" sz="1000" u="none" cap="none" strike="noStrike">
                <a:solidFill>
                  <a:srgbClr val="E50914"/>
                </a:solidFill>
                <a:latin typeface="Calibri"/>
                <a:ea typeface="Calibri"/>
                <a:cs typeface="Calibri"/>
                <a:sym typeface="Calibri"/>
              </a:rPr>
              <a:t>02  /  PROBLEM STATEMENT</a:t>
            </a:r>
            <a:endParaRPr b="0" i="0" sz="1000" u="none" cap="none" strike="noStrike">
              <a:solidFill>
                <a:schemeClr val="dk1"/>
              </a:solidFill>
              <a:latin typeface="Calibri"/>
              <a:ea typeface="Calibri"/>
              <a:cs typeface="Calibri"/>
              <a:sym typeface="Calibri"/>
            </a:endParaRPr>
          </a:p>
        </p:txBody>
      </p:sp>
      <p:sp>
        <p:nvSpPr>
          <p:cNvPr id="87" name="Google Shape;87;p3"/>
          <p:cNvSpPr/>
          <p:nvPr/>
        </p:nvSpPr>
        <p:spPr>
          <a:xfrm>
            <a:off x="457200" y="347472"/>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600"/>
              <a:buFont typeface="Arial Black"/>
              <a:buNone/>
            </a:pPr>
            <a:r>
              <a:rPr b="1" i="0" lang="en-US" sz="2600" u="none" cap="none" strike="noStrike">
                <a:solidFill>
                  <a:srgbClr val="FFFFFF"/>
                </a:solidFill>
                <a:latin typeface="Arial Black"/>
                <a:ea typeface="Arial Black"/>
                <a:cs typeface="Arial Black"/>
                <a:sym typeface="Arial Black"/>
              </a:rPr>
              <a:t>5 Pertanyaan Bisnis Utama</a:t>
            </a:r>
            <a:endParaRPr b="0" i="0" sz="2600" u="none" cap="none" strike="noStrike">
              <a:solidFill>
                <a:schemeClr val="dk1"/>
              </a:solidFill>
              <a:latin typeface="Calibri"/>
              <a:ea typeface="Calibri"/>
              <a:cs typeface="Calibri"/>
              <a:sym typeface="Calibri"/>
            </a:endParaRPr>
          </a:p>
        </p:txBody>
      </p:sp>
      <p:sp>
        <p:nvSpPr>
          <p:cNvPr id="88" name="Google Shape;88;p3"/>
          <p:cNvSpPr/>
          <p:nvPr/>
        </p:nvSpPr>
        <p:spPr>
          <a:xfrm>
            <a:off x="365760" y="1188720"/>
            <a:ext cx="4114800" cy="1078992"/>
          </a:xfrm>
          <a:prstGeom prst="rect">
            <a:avLst/>
          </a:prstGeom>
          <a:solidFill>
            <a:srgbClr val="F5F5F5"/>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3"/>
          <p:cNvSpPr/>
          <p:nvPr/>
        </p:nvSpPr>
        <p:spPr>
          <a:xfrm>
            <a:off x="365760" y="1188720"/>
            <a:ext cx="64008" cy="1078992"/>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3"/>
          <p:cNvSpPr/>
          <p:nvPr/>
        </p:nvSpPr>
        <p:spPr>
          <a:xfrm>
            <a:off x="530352" y="1261872"/>
            <a:ext cx="4572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800"/>
              <a:buFont typeface="Arial Black"/>
              <a:buNone/>
            </a:pPr>
            <a:r>
              <a:rPr b="1" i="0" lang="en-US" sz="1800" u="none" cap="none" strike="noStrike">
                <a:solidFill>
                  <a:srgbClr val="E50914"/>
                </a:solidFill>
                <a:latin typeface="Arial Black"/>
                <a:ea typeface="Arial Black"/>
                <a:cs typeface="Arial Black"/>
                <a:sym typeface="Arial Black"/>
              </a:rPr>
              <a:t>01</a:t>
            </a:r>
            <a:endParaRPr b="0" i="0" sz="1800" u="none" cap="none" strike="noStrike">
              <a:solidFill>
                <a:schemeClr val="dk1"/>
              </a:solidFill>
              <a:latin typeface="Calibri"/>
              <a:ea typeface="Calibri"/>
              <a:cs typeface="Calibri"/>
              <a:sym typeface="Calibri"/>
            </a:endParaRPr>
          </a:p>
        </p:txBody>
      </p:sp>
      <p:sp>
        <p:nvSpPr>
          <p:cNvPr id="91" name="Google Shape;91;p3"/>
          <p:cNvSpPr/>
          <p:nvPr/>
        </p:nvSpPr>
        <p:spPr>
          <a:xfrm>
            <a:off x="960120" y="1261872"/>
            <a:ext cx="33832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200"/>
              <a:buFont typeface="Calibri"/>
              <a:buNone/>
            </a:pPr>
            <a:r>
              <a:rPr b="1" i="0" lang="en-US" sz="1200" u="none" cap="none" strike="noStrike">
                <a:solidFill>
                  <a:srgbClr val="141414"/>
                </a:solidFill>
                <a:latin typeface="Calibri"/>
                <a:ea typeface="Calibri"/>
                <a:cs typeface="Calibri"/>
                <a:sym typeface="Calibri"/>
              </a:rPr>
              <a:t>Content Mix</a:t>
            </a:r>
            <a:endParaRPr b="0" i="0" sz="1200" u="none" cap="none" strike="noStrike">
              <a:solidFill>
                <a:schemeClr val="dk1"/>
              </a:solidFill>
              <a:latin typeface="Calibri"/>
              <a:ea typeface="Calibri"/>
              <a:cs typeface="Calibri"/>
              <a:sym typeface="Calibri"/>
            </a:endParaRPr>
          </a:p>
        </p:txBody>
      </p:sp>
      <p:sp>
        <p:nvSpPr>
          <p:cNvPr id="92" name="Google Shape;92;p3"/>
          <p:cNvSpPr/>
          <p:nvPr/>
        </p:nvSpPr>
        <p:spPr>
          <a:xfrm>
            <a:off x="530352" y="1691640"/>
            <a:ext cx="3794760" cy="50292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555555"/>
              </a:buClr>
              <a:buSzPts val="1000"/>
              <a:buFont typeface="Calibri"/>
              <a:buNone/>
            </a:pPr>
            <a:r>
              <a:rPr b="0" i="0" lang="en-US" sz="1000" u="none" cap="none" strike="noStrike">
                <a:solidFill>
                  <a:srgbClr val="555555"/>
                </a:solidFill>
                <a:latin typeface="Calibri"/>
                <a:ea typeface="Calibri"/>
                <a:cs typeface="Calibri"/>
                <a:sym typeface="Calibri"/>
              </a:rPr>
              <a:t>Bagaimana perbandingan Movie vs TV Show dan mana yang lebih diapresiasi penonton?</a:t>
            </a:r>
            <a:endParaRPr b="0" i="0" sz="1000" u="none" cap="none" strike="noStrike">
              <a:solidFill>
                <a:schemeClr val="dk1"/>
              </a:solidFill>
              <a:latin typeface="Calibri"/>
              <a:ea typeface="Calibri"/>
              <a:cs typeface="Calibri"/>
              <a:sym typeface="Calibri"/>
            </a:endParaRPr>
          </a:p>
        </p:txBody>
      </p:sp>
      <p:sp>
        <p:nvSpPr>
          <p:cNvPr id="93" name="Google Shape;93;p3"/>
          <p:cNvSpPr/>
          <p:nvPr/>
        </p:nvSpPr>
        <p:spPr>
          <a:xfrm>
            <a:off x="365760" y="2423160"/>
            <a:ext cx="4114800" cy="1078992"/>
          </a:xfrm>
          <a:prstGeom prst="rect">
            <a:avLst/>
          </a:prstGeom>
          <a:solidFill>
            <a:srgbClr val="F5F5F5"/>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3"/>
          <p:cNvSpPr/>
          <p:nvPr/>
        </p:nvSpPr>
        <p:spPr>
          <a:xfrm>
            <a:off x="365760" y="2423160"/>
            <a:ext cx="64008" cy="1078992"/>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3"/>
          <p:cNvSpPr/>
          <p:nvPr/>
        </p:nvSpPr>
        <p:spPr>
          <a:xfrm>
            <a:off x="530352" y="2496312"/>
            <a:ext cx="4572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800"/>
              <a:buFont typeface="Arial Black"/>
              <a:buNone/>
            </a:pPr>
            <a:r>
              <a:rPr b="1" i="0" lang="en-US" sz="1800" u="none" cap="none" strike="noStrike">
                <a:solidFill>
                  <a:srgbClr val="E50914"/>
                </a:solidFill>
                <a:latin typeface="Arial Black"/>
                <a:ea typeface="Arial Black"/>
                <a:cs typeface="Arial Black"/>
                <a:sym typeface="Arial Black"/>
              </a:rPr>
              <a:t>02</a:t>
            </a:r>
            <a:endParaRPr b="0" i="0" sz="1800" u="none" cap="none" strike="noStrike">
              <a:solidFill>
                <a:schemeClr val="dk1"/>
              </a:solidFill>
              <a:latin typeface="Calibri"/>
              <a:ea typeface="Calibri"/>
              <a:cs typeface="Calibri"/>
              <a:sym typeface="Calibri"/>
            </a:endParaRPr>
          </a:p>
        </p:txBody>
      </p:sp>
      <p:sp>
        <p:nvSpPr>
          <p:cNvPr id="96" name="Google Shape;96;p3"/>
          <p:cNvSpPr/>
          <p:nvPr/>
        </p:nvSpPr>
        <p:spPr>
          <a:xfrm>
            <a:off x="960120" y="2496312"/>
            <a:ext cx="33832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200"/>
              <a:buFont typeface="Calibri"/>
              <a:buNone/>
            </a:pPr>
            <a:r>
              <a:rPr b="1" i="0" lang="en-US" sz="1200" u="none" cap="none" strike="noStrike">
                <a:solidFill>
                  <a:srgbClr val="141414"/>
                </a:solidFill>
                <a:latin typeface="Calibri"/>
                <a:ea typeface="Calibri"/>
                <a:cs typeface="Calibri"/>
                <a:sym typeface="Calibri"/>
              </a:rPr>
              <a:t>Quality Trend</a:t>
            </a:r>
            <a:endParaRPr b="0" i="0" sz="1200" u="none" cap="none" strike="noStrike">
              <a:solidFill>
                <a:schemeClr val="dk1"/>
              </a:solidFill>
              <a:latin typeface="Calibri"/>
              <a:ea typeface="Calibri"/>
              <a:cs typeface="Calibri"/>
              <a:sym typeface="Calibri"/>
            </a:endParaRPr>
          </a:p>
        </p:txBody>
      </p:sp>
      <p:sp>
        <p:nvSpPr>
          <p:cNvPr id="97" name="Google Shape;97;p3"/>
          <p:cNvSpPr/>
          <p:nvPr/>
        </p:nvSpPr>
        <p:spPr>
          <a:xfrm>
            <a:off x="530352" y="2926080"/>
            <a:ext cx="3794760" cy="50292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555555"/>
              </a:buClr>
              <a:buSzPts val="1000"/>
              <a:buFont typeface="Calibri"/>
              <a:buNone/>
            </a:pPr>
            <a:r>
              <a:rPr b="0" i="0" lang="en-US" sz="1000" u="none" cap="none" strike="noStrike">
                <a:solidFill>
                  <a:srgbClr val="555555"/>
                </a:solidFill>
                <a:latin typeface="Calibri"/>
                <a:ea typeface="Calibri"/>
                <a:cs typeface="Calibri"/>
                <a:sym typeface="Calibri"/>
              </a:rPr>
              <a:t>Bagaimana tren rating dan popularitas konten Netflix dari tahun ke tahun?</a:t>
            </a:r>
            <a:endParaRPr b="0" i="0" sz="1000" u="none" cap="none" strike="noStrike">
              <a:solidFill>
                <a:schemeClr val="dk1"/>
              </a:solidFill>
              <a:latin typeface="Calibri"/>
              <a:ea typeface="Calibri"/>
              <a:cs typeface="Calibri"/>
              <a:sym typeface="Calibri"/>
            </a:endParaRPr>
          </a:p>
        </p:txBody>
      </p:sp>
      <p:sp>
        <p:nvSpPr>
          <p:cNvPr id="98" name="Google Shape;98;p3"/>
          <p:cNvSpPr/>
          <p:nvPr/>
        </p:nvSpPr>
        <p:spPr>
          <a:xfrm>
            <a:off x="365760" y="3657600"/>
            <a:ext cx="4114800" cy="1078992"/>
          </a:xfrm>
          <a:prstGeom prst="rect">
            <a:avLst/>
          </a:prstGeom>
          <a:solidFill>
            <a:srgbClr val="F5F5F5"/>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3"/>
          <p:cNvSpPr/>
          <p:nvPr/>
        </p:nvSpPr>
        <p:spPr>
          <a:xfrm>
            <a:off x="365760" y="3657600"/>
            <a:ext cx="64008" cy="1078992"/>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3"/>
          <p:cNvSpPr/>
          <p:nvPr/>
        </p:nvSpPr>
        <p:spPr>
          <a:xfrm>
            <a:off x="530352" y="3730752"/>
            <a:ext cx="4572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800"/>
              <a:buFont typeface="Arial Black"/>
              <a:buNone/>
            </a:pPr>
            <a:r>
              <a:rPr b="1" i="0" lang="en-US" sz="1800" u="none" cap="none" strike="noStrike">
                <a:solidFill>
                  <a:srgbClr val="E50914"/>
                </a:solidFill>
                <a:latin typeface="Arial Black"/>
                <a:ea typeface="Arial Black"/>
                <a:cs typeface="Arial Black"/>
                <a:sym typeface="Arial Black"/>
              </a:rPr>
              <a:t>03</a:t>
            </a:r>
            <a:endParaRPr b="0" i="0" sz="1800" u="none" cap="none" strike="noStrike">
              <a:solidFill>
                <a:schemeClr val="dk1"/>
              </a:solidFill>
              <a:latin typeface="Calibri"/>
              <a:ea typeface="Calibri"/>
              <a:cs typeface="Calibri"/>
              <a:sym typeface="Calibri"/>
            </a:endParaRPr>
          </a:p>
        </p:txBody>
      </p:sp>
      <p:sp>
        <p:nvSpPr>
          <p:cNvPr id="101" name="Google Shape;101;p3"/>
          <p:cNvSpPr/>
          <p:nvPr/>
        </p:nvSpPr>
        <p:spPr>
          <a:xfrm>
            <a:off x="960120" y="3730752"/>
            <a:ext cx="33832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200"/>
              <a:buFont typeface="Calibri"/>
              <a:buNone/>
            </a:pPr>
            <a:r>
              <a:rPr b="1" i="0" lang="en-US" sz="1200" u="none" cap="none" strike="noStrike">
                <a:solidFill>
                  <a:srgbClr val="141414"/>
                </a:solidFill>
                <a:latin typeface="Calibri"/>
                <a:ea typeface="Calibri"/>
                <a:cs typeface="Calibri"/>
                <a:sym typeface="Calibri"/>
              </a:rPr>
              <a:t>Genre Strategy</a:t>
            </a:r>
            <a:endParaRPr b="0" i="0" sz="1200" u="none" cap="none" strike="noStrike">
              <a:solidFill>
                <a:schemeClr val="dk1"/>
              </a:solidFill>
              <a:latin typeface="Calibri"/>
              <a:ea typeface="Calibri"/>
              <a:cs typeface="Calibri"/>
              <a:sym typeface="Calibri"/>
            </a:endParaRPr>
          </a:p>
        </p:txBody>
      </p:sp>
      <p:sp>
        <p:nvSpPr>
          <p:cNvPr id="102" name="Google Shape;102;p3"/>
          <p:cNvSpPr/>
          <p:nvPr/>
        </p:nvSpPr>
        <p:spPr>
          <a:xfrm>
            <a:off x="530352" y="4160520"/>
            <a:ext cx="3794760" cy="50292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555555"/>
              </a:buClr>
              <a:buSzPts val="1000"/>
              <a:buFont typeface="Calibri"/>
              <a:buNone/>
            </a:pPr>
            <a:r>
              <a:rPr b="0" i="0" lang="en-US" sz="1000" u="none" cap="none" strike="noStrike">
                <a:solidFill>
                  <a:srgbClr val="555555"/>
                </a:solidFill>
                <a:latin typeface="Calibri"/>
                <a:ea typeface="Calibri"/>
                <a:cs typeface="Calibri"/>
                <a:sym typeface="Calibri"/>
              </a:rPr>
              <a:t>Genre apa yang mendominasi, dan apakah yang terbanyak juga yang terbaik ratingnya?</a:t>
            </a:r>
            <a:endParaRPr b="0" i="0" sz="1000" u="none" cap="none" strike="noStrike">
              <a:solidFill>
                <a:schemeClr val="dk1"/>
              </a:solidFill>
              <a:latin typeface="Calibri"/>
              <a:ea typeface="Calibri"/>
              <a:cs typeface="Calibri"/>
              <a:sym typeface="Calibri"/>
            </a:endParaRPr>
          </a:p>
        </p:txBody>
      </p:sp>
      <p:sp>
        <p:nvSpPr>
          <p:cNvPr id="103" name="Google Shape;103;p3"/>
          <p:cNvSpPr/>
          <p:nvPr/>
        </p:nvSpPr>
        <p:spPr>
          <a:xfrm>
            <a:off x="4800600" y="1188720"/>
            <a:ext cx="4114800" cy="1078992"/>
          </a:xfrm>
          <a:prstGeom prst="rect">
            <a:avLst/>
          </a:prstGeom>
          <a:solidFill>
            <a:srgbClr val="F5F5F5"/>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3"/>
          <p:cNvSpPr/>
          <p:nvPr/>
        </p:nvSpPr>
        <p:spPr>
          <a:xfrm>
            <a:off x="4800600" y="1188720"/>
            <a:ext cx="64008" cy="1078992"/>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3"/>
          <p:cNvSpPr/>
          <p:nvPr/>
        </p:nvSpPr>
        <p:spPr>
          <a:xfrm>
            <a:off x="4965192" y="1261872"/>
            <a:ext cx="4572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800"/>
              <a:buFont typeface="Arial Black"/>
              <a:buNone/>
            </a:pPr>
            <a:r>
              <a:rPr b="1" i="0" lang="en-US" sz="1800" u="none" cap="none" strike="noStrike">
                <a:solidFill>
                  <a:srgbClr val="E50914"/>
                </a:solidFill>
                <a:latin typeface="Arial Black"/>
                <a:ea typeface="Arial Black"/>
                <a:cs typeface="Arial Black"/>
                <a:sym typeface="Arial Black"/>
              </a:rPr>
              <a:t>04</a:t>
            </a:r>
            <a:endParaRPr b="0" i="0" sz="1800" u="none" cap="none" strike="noStrike">
              <a:solidFill>
                <a:schemeClr val="dk1"/>
              </a:solidFill>
              <a:latin typeface="Calibri"/>
              <a:ea typeface="Calibri"/>
              <a:cs typeface="Calibri"/>
              <a:sym typeface="Calibri"/>
            </a:endParaRPr>
          </a:p>
        </p:txBody>
      </p:sp>
      <p:sp>
        <p:nvSpPr>
          <p:cNvPr id="106" name="Google Shape;106;p3"/>
          <p:cNvSpPr/>
          <p:nvPr/>
        </p:nvSpPr>
        <p:spPr>
          <a:xfrm>
            <a:off x="5394960" y="1261872"/>
            <a:ext cx="33832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200"/>
              <a:buFont typeface="Calibri"/>
              <a:buNone/>
            </a:pPr>
            <a:r>
              <a:rPr b="1" i="0" lang="en-US" sz="1200" u="none" cap="none" strike="noStrike">
                <a:solidFill>
                  <a:srgbClr val="141414"/>
                </a:solidFill>
                <a:latin typeface="Calibri"/>
                <a:ea typeface="Calibri"/>
                <a:cs typeface="Calibri"/>
                <a:sym typeface="Calibri"/>
              </a:rPr>
              <a:t>Global Reach</a:t>
            </a:r>
            <a:endParaRPr b="0" i="0" sz="1200" u="none" cap="none" strike="noStrike">
              <a:solidFill>
                <a:schemeClr val="dk1"/>
              </a:solidFill>
              <a:latin typeface="Calibri"/>
              <a:ea typeface="Calibri"/>
              <a:cs typeface="Calibri"/>
              <a:sym typeface="Calibri"/>
            </a:endParaRPr>
          </a:p>
        </p:txBody>
      </p:sp>
      <p:sp>
        <p:nvSpPr>
          <p:cNvPr id="107" name="Google Shape;107;p3"/>
          <p:cNvSpPr/>
          <p:nvPr/>
        </p:nvSpPr>
        <p:spPr>
          <a:xfrm>
            <a:off x="4965192" y="1691640"/>
            <a:ext cx="3794760" cy="50292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555555"/>
              </a:buClr>
              <a:buSzPts val="1000"/>
              <a:buFont typeface="Calibri"/>
              <a:buNone/>
            </a:pPr>
            <a:r>
              <a:rPr b="0" i="0" lang="en-US" sz="1000" u="none" cap="none" strike="noStrike">
                <a:solidFill>
                  <a:srgbClr val="555555"/>
                </a:solidFill>
                <a:latin typeface="Calibri"/>
                <a:ea typeface="Calibri"/>
                <a:cs typeface="Calibri"/>
                <a:sym typeface="Calibri"/>
              </a:rPr>
              <a:t>Negara dan bahasa mana yang paling banyak berkontribusi pada konten Netflix?</a:t>
            </a:r>
            <a:endParaRPr b="0" i="0" sz="1000" u="none" cap="none" strike="noStrike">
              <a:solidFill>
                <a:schemeClr val="dk1"/>
              </a:solidFill>
              <a:latin typeface="Calibri"/>
              <a:ea typeface="Calibri"/>
              <a:cs typeface="Calibri"/>
              <a:sym typeface="Calibri"/>
            </a:endParaRPr>
          </a:p>
        </p:txBody>
      </p:sp>
      <p:sp>
        <p:nvSpPr>
          <p:cNvPr id="108" name="Google Shape;108;p3"/>
          <p:cNvSpPr/>
          <p:nvPr/>
        </p:nvSpPr>
        <p:spPr>
          <a:xfrm>
            <a:off x="4800600" y="2423160"/>
            <a:ext cx="4114800" cy="1078992"/>
          </a:xfrm>
          <a:prstGeom prst="rect">
            <a:avLst/>
          </a:prstGeom>
          <a:solidFill>
            <a:srgbClr val="F5F5F5"/>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3"/>
          <p:cNvSpPr/>
          <p:nvPr/>
        </p:nvSpPr>
        <p:spPr>
          <a:xfrm>
            <a:off x="4800600" y="2423160"/>
            <a:ext cx="64008" cy="1078992"/>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3"/>
          <p:cNvSpPr/>
          <p:nvPr/>
        </p:nvSpPr>
        <p:spPr>
          <a:xfrm>
            <a:off x="4965192" y="2496312"/>
            <a:ext cx="4572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800"/>
              <a:buFont typeface="Arial Black"/>
              <a:buNone/>
            </a:pPr>
            <a:r>
              <a:rPr b="1" i="0" lang="en-US" sz="1800" u="none" cap="none" strike="noStrike">
                <a:solidFill>
                  <a:srgbClr val="E50914"/>
                </a:solidFill>
                <a:latin typeface="Arial Black"/>
                <a:ea typeface="Arial Black"/>
                <a:cs typeface="Arial Black"/>
                <a:sym typeface="Arial Black"/>
              </a:rPr>
              <a:t>05</a:t>
            </a:r>
            <a:endParaRPr b="0" i="0" sz="1800" u="none" cap="none" strike="noStrike">
              <a:solidFill>
                <a:schemeClr val="dk1"/>
              </a:solidFill>
              <a:latin typeface="Calibri"/>
              <a:ea typeface="Calibri"/>
              <a:cs typeface="Calibri"/>
              <a:sym typeface="Calibri"/>
            </a:endParaRPr>
          </a:p>
        </p:txBody>
      </p:sp>
      <p:sp>
        <p:nvSpPr>
          <p:cNvPr id="111" name="Google Shape;111;p3"/>
          <p:cNvSpPr/>
          <p:nvPr/>
        </p:nvSpPr>
        <p:spPr>
          <a:xfrm>
            <a:off x="5394960" y="2496312"/>
            <a:ext cx="33832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200"/>
              <a:buFont typeface="Calibri"/>
              <a:buNone/>
            </a:pPr>
            <a:r>
              <a:rPr b="1" i="0" lang="en-US" sz="1200" u="none" cap="none" strike="noStrike">
                <a:solidFill>
                  <a:srgbClr val="141414"/>
                </a:solidFill>
                <a:latin typeface="Calibri"/>
                <a:ea typeface="Calibri"/>
                <a:cs typeface="Calibri"/>
                <a:sym typeface="Calibri"/>
              </a:rPr>
              <a:t>Content Positioning</a:t>
            </a:r>
            <a:endParaRPr b="0" i="0" sz="1200" u="none" cap="none" strike="noStrike">
              <a:solidFill>
                <a:schemeClr val="dk1"/>
              </a:solidFill>
              <a:latin typeface="Calibri"/>
              <a:ea typeface="Calibri"/>
              <a:cs typeface="Calibri"/>
              <a:sym typeface="Calibri"/>
            </a:endParaRPr>
          </a:p>
        </p:txBody>
      </p:sp>
      <p:sp>
        <p:nvSpPr>
          <p:cNvPr id="112" name="Google Shape;112;p3"/>
          <p:cNvSpPr/>
          <p:nvPr/>
        </p:nvSpPr>
        <p:spPr>
          <a:xfrm>
            <a:off x="4965192" y="2926080"/>
            <a:ext cx="3794760" cy="50292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555555"/>
              </a:buClr>
              <a:buSzPts val="1000"/>
              <a:buFont typeface="Calibri"/>
              <a:buNone/>
            </a:pPr>
            <a:r>
              <a:rPr b="0" i="0" lang="en-US" sz="1000" u="none" cap="none" strike="noStrike">
                <a:solidFill>
                  <a:srgbClr val="555555"/>
                </a:solidFill>
                <a:latin typeface="Calibri"/>
                <a:ea typeface="Calibri"/>
                <a:cs typeface="Calibri"/>
                <a:sym typeface="Calibri"/>
              </a:rPr>
              <a:t>Konten mana yang viral tapi berkualitas rendah vs yang menjadi Hidden Gem?</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 name="Shape 117"/>
        <p:cNvGrpSpPr/>
        <p:nvPr/>
      </p:nvGrpSpPr>
      <p:grpSpPr>
        <a:xfrm>
          <a:off x="0" y="0"/>
          <a:ext cx="0" cy="0"/>
          <a:chOff x="0" y="0"/>
          <a:chExt cx="0" cy="0"/>
        </a:xfrm>
      </p:grpSpPr>
      <p:sp>
        <p:nvSpPr>
          <p:cNvPr id="118" name="Google Shape;118;p4"/>
          <p:cNvSpPr/>
          <p:nvPr/>
        </p:nvSpPr>
        <p:spPr>
          <a:xfrm>
            <a:off x="0" y="0"/>
            <a:ext cx="9144000" cy="1051560"/>
          </a:xfrm>
          <a:prstGeom prst="rect">
            <a:avLst/>
          </a:prstGeom>
          <a:solidFill>
            <a:srgbClr val="1414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4"/>
          <p:cNvSpPr/>
          <p:nvPr/>
        </p:nvSpPr>
        <p:spPr>
          <a:xfrm>
            <a:off x="457200" y="73152"/>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000"/>
              <a:buFont typeface="Calibri"/>
              <a:buNone/>
            </a:pPr>
            <a:r>
              <a:rPr b="1" i="0" lang="en-US" sz="1000" u="none" cap="none" strike="noStrike">
                <a:solidFill>
                  <a:srgbClr val="E50914"/>
                </a:solidFill>
                <a:latin typeface="Calibri"/>
                <a:ea typeface="Calibri"/>
                <a:cs typeface="Calibri"/>
                <a:sym typeface="Calibri"/>
              </a:rPr>
              <a:t>03  /  DATASET &amp; METHODOLOGY</a:t>
            </a:r>
            <a:endParaRPr b="0" i="0" sz="1000" u="none" cap="none" strike="noStrike">
              <a:solidFill>
                <a:schemeClr val="dk1"/>
              </a:solidFill>
              <a:latin typeface="Calibri"/>
              <a:ea typeface="Calibri"/>
              <a:cs typeface="Calibri"/>
              <a:sym typeface="Calibri"/>
            </a:endParaRPr>
          </a:p>
        </p:txBody>
      </p:sp>
      <p:sp>
        <p:nvSpPr>
          <p:cNvPr id="120" name="Google Shape;120;p4"/>
          <p:cNvSpPr/>
          <p:nvPr/>
        </p:nvSpPr>
        <p:spPr>
          <a:xfrm>
            <a:off x="457200" y="347472"/>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600"/>
              <a:buFont typeface="Arial Black"/>
              <a:buNone/>
            </a:pPr>
            <a:r>
              <a:rPr b="1" i="0" lang="en-US" sz="2600" u="none" cap="none" strike="noStrike">
                <a:solidFill>
                  <a:srgbClr val="FFFFFF"/>
                </a:solidFill>
                <a:latin typeface="Arial Black"/>
                <a:ea typeface="Arial Black"/>
                <a:cs typeface="Arial Black"/>
                <a:sym typeface="Arial Black"/>
              </a:rPr>
              <a:t>Data &amp; Tools yang Digunakan</a:t>
            </a:r>
            <a:endParaRPr b="0" i="0" sz="2600" u="none" cap="none" strike="noStrike">
              <a:solidFill>
                <a:schemeClr val="dk1"/>
              </a:solidFill>
              <a:latin typeface="Calibri"/>
              <a:ea typeface="Calibri"/>
              <a:cs typeface="Calibri"/>
              <a:sym typeface="Calibri"/>
            </a:endParaRPr>
          </a:p>
        </p:txBody>
      </p:sp>
      <p:sp>
        <p:nvSpPr>
          <p:cNvPr id="121" name="Google Shape;121;p4"/>
          <p:cNvSpPr/>
          <p:nvPr/>
        </p:nvSpPr>
        <p:spPr>
          <a:xfrm>
            <a:off x="365760" y="1170432"/>
            <a:ext cx="5120640" cy="2606040"/>
          </a:xfrm>
          <a:prstGeom prst="rect">
            <a:avLst/>
          </a:prstGeom>
          <a:solidFill>
            <a:srgbClr val="F5F5F5"/>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4"/>
          <p:cNvSpPr/>
          <p:nvPr/>
        </p:nvSpPr>
        <p:spPr>
          <a:xfrm>
            <a:off x="365760" y="1170432"/>
            <a:ext cx="5120640" cy="384048"/>
          </a:xfrm>
          <a:prstGeom prst="rect">
            <a:avLst/>
          </a:prstGeom>
          <a:solidFill>
            <a:srgbClr val="1414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4"/>
          <p:cNvSpPr/>
          <p:nvPr/>
        </p:nvSpPr>
        <p:spPr>
          <a:xfrm>
            <a:off x="502920" y="1170432"/>
            <a:ext cx="484632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  DATASET</a:t>
            </a:r>
            <a:endParaRPr b="0" i="0" sz="1100" u="none" cap="none" strike="noStrike">
              <a:solidFill>
                <a:schemeClr val="dk1"/>
              </a:solidFill>
              <a:latin typeface="Calibri"/>
              <a:ea typeface="Calibri"/>
              <a:cs typeface="Calibri"/>
              <a:sym typeface="Calibri"/>
            </a:endParaRPr>
          </a:p>
        </p:txBody>
      </p:sp>
      <p:sp>
        <p:nvSpPr>
          <p:cNvPr id="124" name="Google Shape;124;p4"/>
          <p:cNvSpPr/>
          <p:nvPr/>
        </p:nvSpPr>
        <p:spPr>
          <a:xfrm>
            <a:off x="548640" y="1664208"/>
            <a:ext cx="10972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000"/>
              <a:buFont typeface="Calibri"/>
              <a:buNone/>
            </a:pPr>
            <a:r>
              <a:rPr b="1" i="0" lang="en-US" sz="1000" u="none" cap="none" strike="noStrike">
                <a:solidFill>
                  <a:srgbClr val="141414"/>
                </a:solidFill>
                <a:latin typeface="Calibri"/>
                <a:ea typeface="Calibri"/>
                <a:cs typeface="Calibri"/>
                <a:sym typeface="Calibri"/>
              </a:rPr>
              <a:t>Sumber:</a:t>
            </a:r>
            <a:endParaRPr b="0" i="0" sz="1000" u="none" cap="none" strike="noStrike">
              <a:solidFill>
                <a:schemeClr val="dk1"/>
              </a:solidFill>
              <a:latin typeface="Calibri"/>
              <a:ea typeface="Calibri"/>
              <a:cs typeface="Calibri"/>
              <a:sym typeface="Calibri"/>
            </a:endParaRPr>
          </a:p>
        </p:txBody>
      </p:sp>
      <p:sp>
        <p:nvSpPr>
          <p:cNvPr id="125" name="Google Shape;125;p4"/>
          <p:cNvSpPr/>
          <p:nvPr/>
        </p:nvSpPr>
        <p:spPr>
          <a:xfrm>
            <a:off x="1691640" y="1664208"/>
            <a:ext cx="35661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44444"/>
              </a:buClr>
              <a:buSzPts val="1000"/>
              <a:buFont typeface="Calibri"/>
              <a:buNone/>
            </a:pPr>
            <a:r>
              <a:rPr b="0" i="0" lang="en-US" sz="1000" u="sng" cap="none" strike="noStrike">
                <a:solidFill>
                  <a:schemeClr val="hlink"/>
                </a:solidFill>
                <a:latin typeface="Calibri"/>
                <a:ea typeface="Calibri"/>
                <a:cs typeface="Calibri"/>
                <a:sym typeface="Calibri"/>
                <a:hlinkClick r:id="rId3"/>
              </a:rPr>
              <a:t>Kaggle — Netflix Movies &amp; TV Shows till 2025</a:t>
            </a:r>
            <a:endParaRPr b="0" i="0" sz="1000" u="none" cap="none" strike="noStrike">
              <a:solidFill>
                <a:schemeClr val="dk1"/>
              </a:solidFill>
              <a:latin typeface="Calibri"/>
              <a:ea typeface="Calibri"/>
              <a:cs typeface="Calibri"/>
              <a:sym typeface="Calibri"/>
            </a:endParaRPr>
          </a:p>
        </p:txBody>
      </p:sp>
      <p:sp>
        <p:nvSpPr>
          <p:cNvPr id="126" name="Google Shape;126;p4"/>
          <p:cNvSpPr/>
          <p:nvPr/>
        </p:nvSpPr>
        <p:spPr>
          <a:xfrm>
            <a:off x="548640" y="2066544"/>
            <a:ext cx="10972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000"/>
              <a:buFont typeface="Calibri"/>
              <a:buNone/>
            </a:pPr>
            <a:r>
              <a:rPr b="1" i="0" lang="en-US" sz="1000" u="none" cap="none" strike="noStrike">
                <a:solidFill>
                  <a:srgbClr val="141414"/>
                </a:solidFill>
                <a:latin typeface="Calibri"/>
                <a:ea typeface="Calibri"/>
                <a:cs typeface="Calibri"/>
                <a:sym typeface="Calibri"/>
              </a:rPr>
              <a:t>File:</a:t>
            </a:r>
            <a:endParaRPr b="0" i="0" sz="1000" u="none" cap="none" strike="noStrike">
              <a:solidFill>
                <a:schemeClr val="dk1"/>
              </a:solidFill>
              <a:latin typeface="Calibri"/>
              <a:ea typeface="Calibri"/>
              <a:cs typeface="Calibri"/>
              <a:sym typeface="Calibri"/>
            </a:endParaRPr>
          </a:p>
        </p:txBody>
      </p:sp>
      <p:sp>
        <p:nvSpPr>
          <p:cNvPr id="127" name="Google Shape;127;p4"/>
          <p:cNvSpPr/>
          <p:nvPr/>
        </p:nvSpPr>
        <p:spPr>
          <a:xfrm>
            <a:off x="1691640" y="2066544"/>
            <a:ext cx="35661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44444"/>
              </a:buClr>
              <a:buSzPts val="1000"/>
              <a:buFont typeface="Calibri"/>
              <a:buNone/>
            </a:pPr>
            <a:r>
              <a:rPr b="0" i="0" lang="en-US" sz="1000" u="none" cap="none" strike="noStrike">
                <a:solidFill>
                  <a:srgbClr val="444444"/>
                </a:solidFill>
                <a:latin typeface="Calibri"/>
                <a:ea typeface="Calibri"/>
                <a:cs typeface="Calibri"/>
                <a:sym typeface="Calibri"/>
              </a:rPr>
              <a:t>netflix_movies_detailed_up_to_2025.csv</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444444"/>
              </a:buClr>
              <a:buSzPts val="1000"/>
              <a:buFont typeface="Calibri"/>
              <a:buNone/>
            </a:pPr>
            <a:r>
              <a:rPr b="0" i="0" lang="en-US" sz="1000" u="none" cap="none" strike="noStrike">
                <a:solidFill>
                  <a:srgbClr val="444444"/>
                </a:solidFill>
                <a:latin typeface="Calibri"/>
                <a:ea typeface="Calibri"/>
                <a:cs typeface="Calibri"/>
                <a:sym typeface="Calibri"/>
              </a:rPr>
              <a:t>netflix_tv_shows_detailed_up_to_2025.csv</a:t>
            </a:r>
            <a:endParaRPr b="0" i="0" sz="1000" u="none" cap="none" strike="noStrike">
              <a:solidFill>
                <a:schemeClr val="dk1"/>
              </a:solidFill>
              <a:latin typeface="Calibri"/>
              <a:ea typeface="Calibri"/>
              <a:cs typeface="Calibri"/>
              <a:sym typeface="Calibri"/>
            </a:endParaRPr>
          </a:p>
        </p:txBody>
      </p:sp>
      <p:sp>
        <p:nvSpPr>
          <p:cNvPr id="128" name="Google Shape;128;p4"/>
          <p:cNvSpPr/>
          <p:nvPr/>
        </p:nvSpPr>
        <p:spPr>
          <a:xfrm>
            <a:off x="548640" y="2468880"/>
            <a:ext cx="10972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000"/>
              <a:buFont typeface="Calibri"/>
              <a:buNone/>
            </a:pPr>
            <a:r>
              <a:rPr b="1" i="0" lang="en-US" sz="1000" u="none" cap="none" strike="noStrike">
                <a:solidFill>
                  <a:srgbClr val="141414"/>
                </a:solidFill>
                <a:latin typeface="Calibri"/>
                <a:ea typeface="Calibri"/>
                <a:cs typeface="Calibri"/>
                <a:sym typeface="Calibri"/>
              </a:rPr>
              <a:t>Total Data:</a:t>
            </a:r>
            <a:endParaRPr b="0" i="0" sz="1000" u="none" cap="none" strike="noStrike">
              <a:solidFill>
                <a:schemeClr val="dk1"/>
              </a:solidFill>
              <a:latin typeface="Calibri"/>
              <a:ea typeface="Calibri"/>
              <a:cs typeface="Calibri"/>
              <a:sym typeface="Calibri"/>
            </a:endParaRPr>
          </a:p>
        </p:txBody>
      </p:sp>
      <p:sp>
        <p:nvSpPr>
          <p:cNvPr id="129" name="Google Shape;129;p4"/>
          <p:cNvSpPr/>
          <p:nvPr/>
        </p:nvSpPr>
        <p:spPr>
          <a:xfrm>
            <a:off x="1691640" y="2468880"/>
            <a:ext cx="35661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44444"/>
              </a:buClr>
              <a:buSzPts val="1000"/>
              <a:buFont typeface="Calibri"/>
              <a:buNone/>
            </a:pPr>
            <a:r>
              <a:rPr b="0" i="0" lang="en-US" sz="1000" u="none" cap="none" strike="noStrike">
                <a:solidFill>
                  <a:srgbClr val="444444"/>
                </a:solidFill>
                <a:latin typeface="Calibri"/>
                <a:ea typeface="Calibri"/>
                <a:cs typeface="Calibri"/>
                <a:sym typeface="Calibri"/>
              </a:rPr>
              <a:t>32,000 konten (16K Movies + 16K TV Shows)</a:t>
            </a:r>
            <a:endParaRPr b="0" i="0" sz="1000" u="none" cap="none" strike="noStrike">
              <a:solidFill>
                <a:schemeClr val="dk1"/>
              </a:solidFill>
              <a:latin typeface="Calibri"/>
              <a:ea typeface="Calibri"/>
              <a:cs typeface="Calibri"/>
              <a:sym typeface="Calibri"/>
            </a:endParaRPr>
          </a:p>
        </p:txBody>
      </p:sp>
      <p:sp>
        <p:nvSpPr>
          <p:cNvPr id="130" name="Google Shape;130;p4"/>
          <p:cNvSpPr/>
          <p:nvPr/>
        </p:nvSpPr>
        <p:spPr>
          <a:xfrm>
            <a:off x="548640" y="2871216"/>
            <a:ext cx="10972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000"/>
              <a:buFont typeface="Calibri"/>
              <a:buNone/>
            </a:pPr>
            <a:r>
              <a:rPr b="1" i="0" lang="en-US" sz="1000" u="none" cap="none" strike="noStrike">
                <a:solidFill>
                  <a:srgbClr val="141414"/>
                </a:solidFill>
                <a:latin typeface="Calibri"/>
                <a:ea typeface="Calibri"/>
                <a:cs typeface="Calibri"/>
                <a:sym typeface="Calibri"/>
              </a:rPr>
              <a:t>Periode:</a:t>
            </a:r>
            <a:endParaRPr b="0" i="0" sz="1000" u="none" cap="none" strike="noStrike">
              <a:solidFill>
                <a:schemeClr val="dk1"/>
              </a:solidFill>
              <a:latin typeface="Calibri"/>
              <a:ea typeface="Calibri"/>
              <a:cs typeface="Calibri"/>
              <a:sym typeface="Calibri"/>
            </a:endParaRPr>
          </a:p>
        </p:txBody>
      </p:sp>
      <p:sp>
        <p:nvSpPr>
          <p:cNvPr id="131" name="Google Shape;131;p4"/>
          <p:cNvSpPr/>
          <p:nvPr/>
        </p:nvSpPr>
        <p:spPr>
          <a:xfrm>
            <a:off x="1691640" y="2871216"/>
            <a:ext cx="35661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44444"/>
              </a:buClr>
              <a:buSzPts val="1000"/>
              <a:buFont typeface="Calibri"/>
              <a:buNone/>
            </a:pPr>
            <a:r>
              <a:rPr b="0" i="0" lang="en-US" sz="1000" u="none" cap="none" strike="noStrike">
                <a:solidFill>
                  <a:srgbClr val="444444"/>
                </a:solidFill>
                <a:latin typeface="Calibri"/>
                <a:ea typeface="Calibri"/>
                <a:cs typeface="Calibri"/>
                <a:sym typeface="Calibri"/>
              </a:rPr>
              <a:t>2010–2025</a:t>
            </a:r>
            <a:endParaRPr b="0" i="0" sz="1000" u="none" cap="none" strike="noStrike">
              <a:solidFill>
                <a:schemeClr val="dk1"/>
              </a:solidFill>
              <a:latin typeface="Calibri"/>
              <a:ea typeface="Calibri"/>
              <a:cs typeface="Calibri"/>
              <a:sym typeface="Calibri"/>
            </a:endParaRPr>
          </a:p>
        </p:txBody>
      </p:sp>
      <p:sp>
        <p:nvSpPr>
          <p:cNvPr id="132" name="Google Shape;132;p4"/>
          <p:cNvSpPr/>
          <p:nvPr/>
        </p:nvSpPr>
        <p:spPr>
          <a:xfrm>
            <a:off x="548640" y="3273552"/>
            <a:ext cx="10972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000"/>
              <a:buFont typeface="Calibri"/>
              <a:buNone/>
            </a:pPr>
            <a:r>
              <a:rPr b="1" i="0" lang="en-US" sz="1000" u="none" cap="none" strike="noStrike">
                <a:solidFill>
                  <a:srgbClr val="141414"/>
                </a:solidFill>
                <a:latin typeface="Calibri"/>
                <a:ea typeface="Calibri"/>
                <a:cs typeface="Calibri"/>
                <a:sym typeface="Calibri"/>
              </a:rPr>
              <a:t>Kolom:</a:t>
            </a:r>
            <a:endParaRPr b="0" i="0" sz="1000" u="none" cap="none" strike="noStrike">
              <a:solidFill>
                <a:schemeClr val="dk1"/>
              </a:solidFill>
              <a:latin typeface="Calibri"/>
              <a:ea typeface="Calibri"/>
              <a:cs typeface="Calibri"/>
              <a:sym typeface="Calibri"/>
            </a:endParaRPr>
          </a:p>
        </p:txBody>
      </p:sp>
      <p:sp>
        <p:nvSpPr>
          <p:cNvPr id="133" name="Google Shape;133;p4"/>
          <p:cNvSpPr/>
          <p:nvPr/>
        </p:nvSpPr>
        <p:spPr>
          <a:xfrm>
            <a:off x="1691640" y="3273552"/>
            <a:ext cx="35661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44444"/>
              </a:buClr>
              <a:buSzPts val="1000"/>
              <a:buFont typeface="Calibri"/>
              <a:buNone/>
            </a:pPr>
            <a:r>
              <a:rPr b="0" i="0" lang="en-US" sz="1000" u="none" cap="none" strike="noStrike">
                <a:solidFill>
                  <a:srgbClr val="444444"/>
                </a:solidFill>
                <a:latin typeface="Calibri"/>
                <a:ea typeface="Calibri"/>
                <a:cs typeface="Calibri"/>
                <a:sym typeface="Calibri"/>
              </a:rPr>
              <a:t>title, type, genres, country, language, vote_average, popularity</a:t>
            </a:r>
            <a:endParaRPr b="0" i="0" sz="1000" u="none" cap="none" strike="noStrike">
              <a:solidFill>
                <a:schemeClr val="dk1"/>
              </a:solidFill>
              <a:latin typeface="Calibri"/>
              <a:ea typeface="Calibri"/>
              <a:cs typeface="Calibri"/>
              <a:sym typeface="Calibri"/>
            </a:endParaRPr>
          </a:p>
        </p:txBody>
      </p:sp>
      <p:sp>
        <p:nvSpPr>
          <p:cNvPr id="134" name="Google Shape;134;p4"/>
          <p:cNvSpPr/>
          <p:nvPr/>
        </p:nvSpPr>
        <p:spPr>
          <a:xfrm>
            <a:off x="5760720" y="1170432"/>
            <a:ext cx="3063240" cy="2606040"/>
          </a:xfrm>
          <a:prstGeom prst="rect">
            <a:avLst/>
          </a:prstGeom>
          <a:solidFill>
            <a:srgbClr val="F5F5F5"/>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4"/>
          <p:cNvSpPr/>
          <p:nvPr/>
        </p:nvSpPr>
        <p:spPr>
          <a:xfrm>
            <a:off x="5760720" y="1170432"/>
            <a:ext cx="3063240" cy="384048"/>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4"/>
          <p:cNvSpPr/>
          <p:nvPr/>
        </p:nvSpPr>
        <p:spPr>
          <a:xfrm>
            <a:off x="5897880" y="1170432"/>
            <a:ext cx="283464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  TOOLS</a:t>
            </a:r>
            <a:endParaRPr b="0" i="0" sz="1100" u="none" cap="none" strike="noStrike">
              <a:solidFill>
                <a:schemeClr val="dk1"/>
              </a:solidFill>
              <a:latin typeface="Calibri"/>
              <a:ea typeface="Calibri"/>
              <a:cs typeface="Calibri"/>
              <a:sym typeface="Calibri"/>
            </a:endParaRPr>
          </a:p>
        </p:txBody>
      </p:sp>
      <p:sp>
        <p:nvSpPr>
          <p:cNvPr id="137" name="Google Shape;137;p4"/>
          <p:cNvSpPr/>
          <p:nvPr/>
        </p:nvSpPr>
        <p:spPr>
          <a:xfrm>
            <a:off x="5897880" y="1664208"/>
            <a:ext cx="11887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000"/>
              <a:buFont typeface="Calibri"/>
              <a:buNone/>
            </a:pPr>
            <a:r>
              <a:rPr b="1" i="0" lang="en-US" sz="1000" u="none" cap="none" strike="noStrike">
                <a:solidFill>
                  <a:srgbClr val="141414"/>
                </a:solidFill>
                <a:latin typeface="Calibri"/>
                <a:ea typeface="Calibri"/>
                <a:cs typeface="Calibri"/>
                <a:sym typeface="Calibri"/>
              </a:rPr>
              <a:t>▸ Python</a:t>
            </a:r>
            <a:endParaRPr b="0" i="0" sz="1000" u="none" cap="none" strike="noStrike">
              <a:solidFill>
                <a:schemeClr val="dk1"/>
              </a:solidFill>
              <a:latin typeface="Calibri"/>
              <a:ea typeface="Calibri"/>
              <a:cs typeface="Calibri"/>
              <a:sym typeface="Calibri"/>
            </a:endParaRPr>
          </a:p>
        </p:txBody>
      </p:sp>
      <p:sp>
        <p:nvSpPr>
          <p:cNvPr id="138" name="Google Shape;138;p4"/>
          <p:cNvSpPr/>
          <p:nvPr/>
        </p:nvSpPr>
        <p:spPr>
          <a:xfrm>
            <a:off x="7086600" y="1664208"/>
            <a:ext cx="16002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1000"/>
              <a:buFont typeface="Calibri"/>
              <a:buNone/>
            </a:pPr>
            <a:r>
              <a:rPr b="0" i="0" lang="en-US" sz="1000" u="none" cap="none" strike="noStrike">
                <a:solidFill>
                  <a:srgbClr val="555555"/>
                </a:solidFill>
                <a:latin typeface="Calibri"/>
                <a:ea typeface="Calibri"/>
                <a:cs typeface="Calibri"/>
                <a:sym typeface="Calibri"/>
              </a:rPr>
              <a:t>Analisis &amp; scripting</a:t>
            </a:r>
            <a:endParaRPr b="0" i="0" sz="1000" u="none" cap="none" strike="noStrike">
              <a:solidFill>
                <a:schemeClr val="dk1"/>
              </a:solidFill>
              <a:latin typeface="Calibri"/>
              <a:ea typeface="Calibri"/>
              <a:cs typeface="Calibri"/>
              <a:sym typeface="Calibri"/>
            </a:endParaRPr>
          </a:p>
        </p:txBody>
      </p:sp>
      <p:sp>
        <p:nvSpPr>
          <p:cNvPr id="139" name="Google Shape;139;p4"/>
          <p:cNvSpPr/>
          <p:nvPr/>
        </p:nvSpPr>
        <p:spPr>
          <a:xfrm>
            <a:off x="5897880" y="2002536"/>
            <a:ext cx="11887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000"/>
              <a:buFont typeface="Calibri"/>
              <a:buNone/>
            </a:pPr>
            <a:r>
              <a:rPr b="1" i="0" lang="en-US" sz="1000" u="none" cap="none" strike="noStrike">
                <a:solidFill>
                  <a:srgbClr val="141414"/>
                </a:solidFill>
                <a:latin typeface="Calibri"/>
                <a:ea typeface="Calibri"/>
                <a:cs typeface="Calibri"/>
                <a:sym typeface="Calibri"/>
              </a:rPr>
              <a:t>▸ Pandas</a:t>
            </a:r>
            <a:endParaRPr b="0" i="0" sz="1000" u="none" cap="none" strike="noStrike">
              <a:solidFill>
                <a:schemeClr val="dk1"/>
              </a:solidFill>
              <a:latin typeface="Calibri"/>
              <a:ea typeface="Calibri"/>
              <a:cs typeface="Calibri"/>
              <a:sym typeface="Calibri"/>
            </a:endParaRPr>
          </a:p>
        </p:txBody>
      </p:sp>
      <p:sp>
        <p:nvSpPr>
          <p:cNvPr id="140" name="Google Shape;140;p4"/>
          <p:cNvSpPr/>
          <p:nvPr/>
        </p:nvSpPr>
        <p:spPr>
          <a:xfrm>
            <a:off x="7086600" y="2002536"/>
            <a:ext cx="16002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1000"/>
              <a:buFont typeface="Calibri"/>
              <a:buNone/>
            </a:pPr>
            <a:r>
              <a:rPr b="0" i="0" lang="en-US" sz="1000" u="none" cap="none" strike="noStrike">
                <a:solidFill>
                  <a:srgbClr val="555555"/>
                </a:solidFill>
                <a:latin typeface="Calibri"/>
                <a:ea typeface="Calibri"/>
                <a:cs typeface="Calibri"/>
                <a:sym typeface="Calibri"/>
              </a:rPr>
              <a:t>Data manipulation</a:t>
            </a:r>
            <a:endParaRPr b="0" i="0" sz="1000" u="none" cap="none" strike="noStrike">
              <a:solidFill>
                <a:schemeClr val="dk1"/>
              </a:solidFill>
              <a:latin typeface="Calibri"/>
              <a:ea typeface="Calibri"/>
              <a:cs typeface="Calibri"/>
              <a:sym typeface="Calibri"/>
            </a:endParaRPr>
          </a:p>
        </p:txBody>
      </p:sp>
      <p:sp>
        <p:nvSpPr>
          <p:cNvPr id="141" name="Google Shape;141;p4"/>
          <p:cNvSpPr/>
          <p:nvPr/>
        </p:nvSpPr>
        <p:spPr>
          <a:xfrm>
            <a:off x="5897880" y="2340864"/>
            <a:ext cx="11887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000"/>
              <a:buFont typeface="Calibri"/>
              <a:buNone/>
            </a:pPr>
            <a:r>
              <a:rPr b="1" i="0" lang="en-US" sz="1000" u="none" cap="none" strike="noStrike">
                <a:solidFill>
                  <a:srgbClr val="141414"/>
                </a:solidFill>
                <a:latin typeface="Calibri"/>
                <a:ea typeface="Calibri"/>
                <a:cs typeface="Calibri"/>
                <a:sym typeface="Calibri"/>
              </a:rPr>
              <a:t>▸ Matplotlib</a:t>
            </a:r>
            <a:endParaRPr b="0" i="0" sz="1000" u="none" cap="none" strike="noStrike">
              <a:solidFill>
                <a:schemeClr val="dk1"/>
              </a:solidFill>
              <a:latin typeface="Calibri"/>
              <a:ea typeface="Calibri"/>
              <a:cs typeface="Calibri"/>
              <a:sym typeface="Calibri"/>
            </a:endParaRPr>
          </a:p>
        </p:txBody>
      </p:sp>
      <p:sp>
        <p:nvSpPr>
          <p:cNvPr id="142" name="Google Shape;142;p4"/>
          <p:cNvSpPr/>
          <p:nvPr/>
        </p:nvSpPr>
        <p:spPr>
          <a:xfrm>
            <a:off x="7086600" y="2340864"/>
            <a:ext cx="16002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1000"/>
              <a:buFont typeface="Calibri"/>
              <a:buNone/>
            </a:pPr>
            <a:r>
              <a:rPr b="0" i="0" lang="en-US" sz="1000" u="none" cap="none" strike="noStrike">
                <a:solidFill>
                  <a:srgbClr val="555555"/>
                </a:solidFill>
                <a:latin typeface="Calibri"/>
                <a:ea typeface="Calibri"/>
                <a:cs typeface="Calibri"/>
                <a:sym typeface="Calibri"/>
              </a:rPr>
              <a:t>Visualisasi</a:t>
            </a:r>
            <a:endParaRPr b="0" i="0" sz="1000" u="none" cap="none" strike="noStrike">
              <a:solidFill>
                <a:schemeClr val="dk1"/>
              </a:solidFill>
              <a:latin typeface="Calibri"/>
              <a:ea typeface="Calibri"/>
              <a:cs typeface="Calibri"/>
              <a:sym typeface="Calibri"/>
            </a:endParaRPr>
          </a:p>
        </p:txBody>
      </p:sp>
      <p:sp>
        <p:nvSpPr>
          <p:cNvPr id="143" name="Google Shape;143;p4"/>
          <p:cNvSpPr/>
          <p:nvPr/>
        </p:nvSpPr>
        <p:spPr>
          <a:xfrm>
            <a:off x="5897880" y="2679192"/>
            <a:ext cx="11887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000"/>
              <a:buFont typeface="Calibri"/>
              <a:buNone/>
            </a:pPr>
            <a:r>
              <a:rPr b="1" i="0" lang="en-US" sz="1000" u="none" cap="none" strike="noStrike">
                <a:solidFill>
                  <a:srgbClr val="141414"/>
                </a:solidFill>
                <a:latin typeface="Calibri"/>
                <a:ea typeface="Calibri"/>
                <a:cs typeface="Calibri"/>
                <a:sym typeface="Calibri"/>
              </a:rPr>
              <a:t>▸ Seaborn</a:t>
            </a:r>
            <a:endParaRPr b="0" i="0" sz="1000" u="none" cap="none" strike="noStrike">
              <a:solidFill>
                <a:schemeClr val="dk1"/>
              </a:solidFill>
              <a:latin typeface="Calibri"/>
              <a:ea typeface="Calibri"/>
              <a:cs typeface="Calibri"/>
              <a:sym typeface="Calibri"/>
            </a:endParaRPr>
          </a:p>
        </p:txBody>
      </p:sp>
      <p:sp>
        <p:nvSpPr>
          <p:cNvPr id="144" name="Google Shape;144;p4"/>
          <p:cNvSpPr/>
          <p:nvPr/>
        </p:nvSpPr>
        <p:spPr>
          <a:xfrm>
            <a:off x="7086600" y="2679192"/>
            <a:ext cx="16002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1000"/>
              <a:buFont typeface="Calibri"/>
              <a:buNone/>
            </a:pPr>
            <a:r>
              <a:rPr b="0" i="0" lang="en-US" sz="1000" u="none" cap="none" strike="noStrike">
                <a:solidFill>
                  <a:srgbClr val="555555"/>
                </a:solidFill>
                <a:latin typeface="Calibri"/>
                <a:ea typeface="Calibri"/>
                <a:cs typeface="Calibri"/>
                <a:sym typeface="Calibri"/>
              </a:rPr>
              <a:t>Statistical charts</a:t>
            </a:r>
            <a:endParaRPr b="0" i="0" sz="1000" u="none" cap="none" strike="noStrike">
              <a:solidFill>
                <a:schemeClr val="dk1"/>
              </a:solidFill>
              <a:latin typeface="Calibri"/>
              <a:ea typeface="Calibri"/>
              <a:cs typeface="Calibri"/>
              <a:sym typeface="Calibri"/>
            </a:endParaRPr>
          </a:p>
        </p:txBody>
      </p:sp>
      <p:sp>
        <p:nvSpPr>
          <p:cNvPr id="145" name="Google Shape;145;p4"/>
          <p:cNvSpPr/>
          <p:nvPr/>
        </p:nvSpPr>
        <p:spPr>
          <a:xfrm>
            <a:off x="5897880" y="3017520"/>
            <a:ext cx="11887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000"/>
              <a:buFont typeface="Calibri"/>
              <a:buNone/>
            </a:pPr>
            <a:r>
              <a:rPr b="1" i="0" lang="en-US" sz="1000" u="none" cap="none" strike="noStrike">
                <a:solidFill>
                  <a:srgbClr val="141414"/>
                </a:solidFill>
                <a:latin typeface="Calibri"/>
                <a:ea typeface="Calibri"/>
                <a:cs typeface="Calibri"/>
                <a:sym typeface="Calibri"/>
              </a:rPr>
              <a:t>▸ GitHub</a:t>
            </a:r>
            <a:endParaRPr b="0" i="0" sz="1000" u="none" cap="none" strike="noStrike">
              <a:solidFill>
                <a:schemeClr val="dk1"/>
              </a:solidFill>
              <a:latin typeface="Calibri"/>
              <a:ea typeface="Calibri"/>
              <a:cs typeface="Calibri"/>
              <a:sym typeface="Calibri"/>
            </a:endParaRPr>
          </a:p>
        </p:txBody>
      </p:sp>
      <p:sp>
        <p:nvSpPr>
          <p:cNvPr id="146" name="Google Shape;146;p4"/>
          <p:cNvSpPr/>
          <p:nvPr/>
        </p:nvSpPr>
        <p:spPr>
          <a:xfrm>
            <a:off x="7086600" y="3017520"/>
            <a:ext cx="16002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1000"/>
              <a:buFont typeface="Calibri"/>
              <a:buNone/>
            </a:pPr>
            <a:r>
              <a:rPr b="0" i="0" lang="en-US" sz="1000" u="none" cap="none" strike="noStrike">
                <a:solidFill>
                  <a:srgbClr val="555555"/>
                </a:solidFill>
                <a:latin typeface="Calibri"/>
                <a:ea typeface="Calibri"/>
                <a:cs typeface="Calibri"/>
                <a:sym typeface="Calibri"/>
              </a:rPr>
              <a:t>Portfolio hosting</a:t>
            </a:r>
            <a:endParaRPr b="0" i="0" sz="1000" u="none" cap="none" strike="noStrike">
              <a:solidFill>
                <a:schemeClr val="dk1"/>
              </a:solidFill>
              <a:latin typeface="Calibri"/>
              <a:ea typeface="Calibri"/>
              <a:cs typeface="Calibri"/>
              <a:sym typeface="Calibri"/>
            </a:endParaRPr>
          </a:p>
        </p:txBody>
      </p:sp>
      <p:sp>
        <p:nvSpPr>
          <p:cNvPr id="147" name="Google Shape;147;p4"/>
          <p:cNvSpPr/>
          <p:nvPr/>
        </p:nvSpPr>
        <p:spPr>
          <a:xfrm>
            <a:off x="5897880" y="3355848"/>
            <a:ext cx="11887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000"/>
              <a:buFont typeface="Calibri"/>
              <a:buNone/>
            </a:pPr>
            <a:r>
              <a:rPr b="1" i="0" lang="en-US" sz="1000" u="none" cap="none" strike="noStrike">
                <a:solidFill>
                  <a:srgbClr val="141414"/>
                </a:solidFill>
                <a:latin typeface="Calibri"/>
                <a:ea typeface="Calibri"/>
                <a:cs typeface="Calibri"/>
                <a:sym typeface="Calibri"/>
              </a:rPr>
              <a:t>▸ Canva</a:t>
            </a:r>
            <a:endParaRPr b="0" i="0" sz="1000" u="none" cap="none" strike="noStrike">
              <a:solidFill>
                <a:schemeClr val="dk1"/>
              </a:solidFill>
              <a:latin typeface="Calibri"/>
              <a:ea typeface="Calibri"/>
              <a:cs typeface="Calibri"/>
              <a:sym typeface="Calibri"/>
            </a:endParaRPr>
          </a:p>
        </p:txBody>
      </p:sp>
      <p:sp>
        <p:nvSpPr>
          <p:cNvPr id="148" name="Google Shape;148;p4"/>
          <p:cNvSpPr/>
          <p:nvPr/>
        </p:nvSpPr>
        <p:spPr>
          <a:xfrm>
            <a:off x="7086600" y="3355848"/>
            <a:ext cx="16002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1000"/>
              <a:buFont typeface="Calibri"/>
              <a:buNone/>
            </a:pPr>
            <a:r>
              <a:rPr b="0" i="0" lang="en-US" sz="1000" u="none" cap="none" strike="noStrike">
                <a:solidFill>
                  <a:srgbClr val="555555"/>
                </a:solidFill>
                <a:latin typeface="Calibri"/>
                <a:ea typeface="Calibri"/>
                <a:cs typeface="Calibri"/>
                <a:sym typeface="Calibri"/>
              </a:rPr>
              <a:t>Presentation deck</a:t>
            </a:r>
            <a:endParaRPr b="0" i="0" sz="1000" u="none" cap="none" strike="noStrike">
              <a:solidFill>
                <a:schemeClr val="dk1"/>
              </a:solidFill>
              <a:latin typeface="Calibri"/>
              <a:ea typeface="Calibri"/>
              <a:cs typeface="Calibri"/>
              <a:sym typeface="Calibri"/>
            </a:endParaRPr>
          </a:p>
        </p:txBody>
      </p:sp>
      <p:sp>
        <p:nvSpPr>
          <p:cNvPr id="149" name="Google Shape;149;p4"/>
          <p:cNvSpPr/>
          <p:nvPr/>
        </p:nvSpPr>
        <p:spPr>
          <a:xfrm>
            <a:off x="365760" y="3913632"/>
            <a:ext cx="8412480" cy="868680"/>
          </a:xfrm>
          <a:prstGeom prst="rect">
            <a:avLst/>
          </a:prstGeom>
          <a:solidFill>
            <a:srgbClr val="1414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4"/>
          <p:cNvSpPr/>
          <p:nvPr/>
        </p:nvSpPr>
        <p:spPr>
          <a:xfrm>
            <a:off x="731520" y="3986784"/>
            <a:ext cx="320040" cy="320040"/>
          </a:xfrm>
          <a:prstGeom prst="ellipse">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4"/>
          <p:cNvSpPr/>
          <p:nvPr/>
        </p:nvSpPr>
        <p:spPr>
          <a:xfrm>
            <a:off x="731520" y="3986784"/>
            <a:ext cx="320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i="0" lang="en-US" sz="1000" u="none" cap="none" strike="noStrike">
                <a:solidFill>
                  <a:srgbClr val="FFFFFF"/>
                </a:solidFill>
                <a:latin typeface="Calibri"/>
                <a:ea typeface="Calibri"/>
                <a:cs typeface="Calibri"/>
                <a:sym typeface="Calibri"/>
              </a:rPr>
              <a:t>1</a:t>
            </a:r>
            <a:endParaRPr b="0" i="0" sz="1000" u="none" cap="none" strike="noStrike">
              <a:solidFill>
                <a:schemeClr val="dk1"/>
              </a:solidFill>
              <a:latin typeface="Calibri"/>
              <a:ea typeface="Calibri"/>
              <a:cs typeface="Calibri"/>
              <a:sym typeface="Calibri"/>
            </a:endParaRPr>
          </a:p>
        </p:txBody>
      </p:sp>
      <p:sp>
        <p:nvSpPr>
          <p:cNvPr id="152" name="Google Shape;152;p4"/>
          <p:cNvSpPr/>
          <p:nvPr/>
        </p:nvSpPr>
        <p:spPr>
          <a:xfrm>
            <a:off x="365760" y="4325112"/>
            <a:ext cx="10972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800"/>
              <a:buFont typeface="Calibri"/>
              <a:buNone/>
            </a:pPr>
            <a:r>
              <a:rPr b="0" i="0" lang="en-US" sz="800" u="none" cap="none" strike="noStrike">
                <a:solidFill>
                  <a:srgbClr val="FFFFFF"/>
                </a:solidFill>
                <a:latin typeface="Calibri"/>
                <a:ea typeface="Calibri"/>
                <a:cs typeface="Calibri"/>
                <a:sym typeface="Calibri"/>
              </a:rPr>
              <a:t>Load &amp; Merge</a:t>
            </a:r>
            <a:endParaRPr b="0" i="0" sz="800" u="none" cap="none" strike="noStrike">
              <a:solidFill>
                <a:schemeClr val="dk1"/>
              </a:solidFill>
              <a:latin typeface="Calibri"/>
              <a:ea typeface="Calibri"/>
              <a:cs typeface="Calibri"/>
              <a:sym typeface="Calibri"/>
            </a:endParaRPr>
          </a:p>
        </p:txBody>
      </p:sp>
      <p:sp>
        <p:nvSpPr>
          <p:cNvPr id="153" name="Google Shape;153;p4"/>
          <p:cNvSpPr/>
          <p:nvPr/>
        </p:nvSpPr>
        <p:spPr>
          <a:xfrm>
            <a:off x="1078992" y="4005072"/>
            <a:ext cx="4114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AAAAA"/>
              </a:buClr>
              <a:buSzPts val="1300"/>
              <a:buFont typeface="Calibri"/>
              <a:buNone/>
            </a:pPr>
            <a:r>
              <a:rPr b="0" i="0" lang="en-US" sz="1300" u="none" cap="none" strike="noStrike">
                <a:solidFill>
                  <a:srgbClr val="AAAAAA"/>
                </a:solidFill>
                <a:latin typeface="Calibri"/>
                <a:ea typeface="Calibri"/>
                <a:cs typeface="Calibri"/>
                <a:sym typeface="Calibri"/>
              </a:rPr>
              <a:t>→</a:t>
            </a:r>
            <a:endParaRPr b="0" i="0" sz="1300" u="none" cap="none" strike="noStrike">
              <a:solidFill>
                <a:schemeClr val="dk1"/>
              </a:solidFill>
              <a:latin typeface="Calibri"/>
              <a:ea typeface="Calibri"/>
              <a:cs typeface="Calibri"/>
              <a:sym typeface="Calibri"/>
            </a:endParaRPr>
          </a:p>
        </p:txBody>
      </p:sp>
      <p:sp>
        <p:nvSpPr>
          <p:cNvPr id="154" name="Google Shape;154;p4"/>
          <p:cNvSpPr/>
          <p:nvPr/>
        </p:nvSpPr>
        <p:spPr>
          <a:xfrm>
            <a:off x="2395728" y="3986784"/>
            <a:ext cx="320040" cy="320040"/>
          </a:xfrm>
          <a:prstGeom prst="ellipse">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4"/>
          <p:cNvSpPr/>
          <p:nvPr/>
        </p:nvSpPr>
        <p:spPr>
          <a:xfrm>
            <a:off x="2395728" y="3986784"/>
            <a:ext cx="320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i="0" lang="en-US" sz="1000" u="none" cap="none" strike="noStrike">
                <a:solidFill>
                  <a:srgbClr val="FFFFFF"/>
                </a:solidFill>
                <a:latin typeface="Calibri"/>
                <a:ea typeface="Calibri"/>
                <a:cs typeface="Calibri"/>
                <a:sym typeface="Calibri"/>
              </a:rPr>
              <a:t>2</a:t>
            </a:r>
            <a:endParaRPr b="0" i="0" sz="1000" u="none" cap="none" strike="noStrike">
              <a:solidFill>
                <a:schemeClr val="dk1"/>
              </a:solidFill>
              <a:latin typeface="Calibri"/>
              <a:ea typeface="Calibri"/>
              <a:cs typeface="Calibri"/>
              <a:sym typeface="Calibri"/>
            </a:endParaRPr>
          </a:p>
        </p:txBody>
      </p:sp>
      <p:sp>
        <p:nvSpPr>
          <p:cNvPr id="156" name="Google Shape;156;p4"/>
          <p:cNvSpPr/>
          <p:nvPr/>
        </p:nvSpPr>
        <p:spPr>
          <a:xfrm>
            <a:off x="2029968" y="4325112"/>
            <a:ext cx="10972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800"/>
              <a:buFont typeface="Calibri"/>
              <a:buNone/>
            </a:pPr>
            <a:r>
              <a:rPr b="0" i="0" lang="en-US" sz="800" u="none" cap="none" strike="noStrike">
                <a:solidFill>
                  <a:srgbClr val="FFFFFF"/>
                </a:solidFill>
                <a:latin typeface="Calibri"/>
                <a:ea typeface="Calibri"/>
                <a:cs typeface="Calibri"/>
                <a:sym typeface="Calibri"/>
              </a:rPr>
              <a:t>Eksplorasi Data</a:t>
            </a:r>
            <a:endParaRPr b="0" i="0" sz="800" u="none" cap="none" strike="noStrike">
              <a:solidFill>
                <a:schemeClr val="dk1"/>
              </a:solidFill>
              <a:latin typeface="Calibri"/>
              <a:ea typeface="Calibri"/>
              <a:cs typeface="Calibri"/>
              <a:sym typeface="Calibri"/>
            </a:endParaRPr>
          </a:p>
        </p:txBody>
      </p:sp>
      <p:sp>
        <p:nvSpPr>
          <p:cNvPr id="157" name="Google Shape;157;p4"/>
          <p:cNvSpPr/>
          <p:nvPr/>
        </p:nvSpPr>
        <p:spPr>
          <a:xfrm>
            <a:off x="2743200" y="4005072"/>
            <a:ext cx="4114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AAAAA"/>
              </a:buClr>
              <a:buSzPts val="1300"/>
              <a:buFont typeface="Calibri"/>
              <a:buNone/>
            </a:pPr>
            <a:r>
              <a:rPr b="0" i="0" lang="en-US" sz="1300" u="none" cap="none" strike="noStrike">
                <a:solidFill>
                  <a:srgbClr val="AAAAAA"/>
                </a:solidFill>
                <a:latin typeface="Calibri"/>
                <a:ea typeface="Calibri"/>
                <a:cs typeface="Calibri"/>
                <a:sym typeface="Calibri"/>
              </a:rPr>
              <a:t>→</a:t>
            </a:r>
            <a:endParaRPr b="0" i="0" sz="1300" u="none" cap="none" strike="noStrike">
              <a:solidFill>
                <a:schemeClr val="dk1"/>
              </a:solidFill>
              <a:latin typeface="Calibri"/>
              <a:ea typeface="Calibri"/>
              <a:cs typeface="Calibri"/>
              <a:sym typeface="Calibri"/>
            </a:endParaRPr>
          </a:p>
        </p:txBody>
      </p:sp>
      <p:sp>
        <p:nvSpPr>
          <p:cNvPr id="158" name="Google Shape;158;p4"/>
          <p:cNvSpPr/>
          <p:nvPr/>
        </p:nvSpPr>
        <p:spPr>
          <a:xfrm>
            <a:off x="4059936" y="3986784"/>
            <a:ext cx="320040" cy="320040"/>
          </a:xfrm>
          <a:prstGeom prst="ellipse">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4"/>
          <p:cNvSpPr/>
          <p:nvPr/>
        </p:nvSpPr>
        <p:spPr>
          <a:xfrm>
            <a:off x="4059936" y="3986784"/>
            <a:ext cx="320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i="0" lang="en-US" sz="1000" u="none" cap="none" strike="noStrike">
                <a:solidFill>
                  <a:srgbClr val="FFFFFF"/>
                </a:solidFill>
                <a:latin typeface="Calibri"/>
                <a:ea typeface="Calibri"/>
                <a:cs typeface="Calibri"/>
                <a:sym typeface="Calibri"/>
              </a:rPr>
              <a:t>3</a:t>
            </a:r>
            <a:endParaRPr b="0" i="0" sz="1000" u="none" cap="none" strike="noStrike">
              <a:solidFill>
                <a:schemeClr val="dk1"/>
              </a:solidFill>
              <a:latin typeface="Calibri"/>
              <a:ea typeface="Calibri"/>
              <a:cs typeface="Calibri"/>
              <a:sym typeface="Calibri"/>
            </a:endParaRPr>
          </a:p>
        </p:txBody>
      </p:sp>
      <p:sp>
        <p:nvSpPr>
          <p:cNvPr id="160" name="Google Shape;160;p4"/>
          <p:cNvSpPr/>
          <p:nvPr/>
        </p:nvSpPr>
        <p:spPr>
          <a:xfrm>
            <a:off x="3694176" y="4325112"/>
            <a:ext cx="10972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800"/>
              <a:buFont typeface="Calibri"/>
              <a:buNone/>
            </a:pPr>
            <a:r>
              <a:rPr b="0" i="0" lang="en-US" sz="800" u="none" cap="none" strike="noStrike">
                <a:solidFill>
                  <a:srgbClr val="FFFFFF"/>
                </a:solidFill>
                <a:latin typeface="Calibri"/>
                <a:ea typeface="Calibri"/>
                <a:cs typeface="Calibri"/>
                <a:sym typeface="Calibri"/>
              </a:rPr>
              <a:t>Data Cleaning</a:t>
            </a:r>
            <a:endParaRPr b="0" i="0" sz="800" u="none" cap="none" strike="noStrike">
              <a:solidFill>
                <a:schemeClr val="dk1"/>
              </a:solidFill>
              <a:latin typeface="Calibri"/>
              <a:ea typeface="Calibri"/>
              <a:cs typeface="Calibri"/>
              <a:sym typeface="Calibri"/>
            </a:endParaRPr>
          </a:p>
        </p:txBody>
      </p:sp>
      <p:sp>
        <p:nvSpPr>
          <p:cNvPr id="161" name="Google Shape;161;p4"/>
          <p:cNvSpPr/>
          <p:nvPr/>
        </p:nvSpPr>
        <p:spPr>
          <a:xfrm>
            <a:off x="4407408" y="4005072"/>
            <a:ext cx="4114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AAAAA"/>
              </a:buClr>
              <a:buSzPts val="1300"/>
              <a:buFont typeface="Calibri"/>
              <a:buNone/>
            </a:pPr>
            <a:r>
              <a:rPr b="0" i="0" lang="en-US" sz="1300" u="none" cap="none" strike="noStrike">
                <a:solidFill>
                  <a:srgbClr val="AAAAAA"/>
                </a:solidFill>
                <a:latin typeface="Calibri"/>
                <a:ea typeface="Calibri"/>
                <a:cs typeface="Calibri"/>
                <a:sym typeface="Calibri"/>
              </a:rPr>
              <a:t>→</a:t>
            </a:r>
            <a:endParaRPr b="0" i="0" sz="1300" u="none" cap="none" strike="noStrike">
              <a:solidFill>
                <a:schemeClr val="dk1"/>
              </a:solidFill>
              <a:latin typeface="Calibri"/>
              <a:ea typeface="Calibri"/>
              <a:cs typeface="Calibri"/>
              <a:sym typeface="Calibri"/>
            </a:endParaRPr>
          </a:p>
        </p:txBody>
      </p:sp>
      <p:sp>
        <p:nvSpPr>
          <p:cNvPr id="162" name="Google Shape;162;p4"/>
          <p:cNvSpPr/>
          <p:nvPr/>
        </p:nvSpPr>
        <p:spPr>
          <a:xfrm>
            <a:off x="5724144" y="3986784"/>
            <a:ext cx="320040" cy="320040"/>
          </a:xfrm>
          <a:prstGeom prst="ellipse">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4"/>
          <p:cNvSpPr/>
          <p:nvPr/>
        </p:nvSpPr>
        <p:spPr>
          <a:xfrm>
            <a:off x="5724144" y="3986784"/>
            <a:ext cx="320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i="0" lang="en-US" sz="1000" u="none" cap="none" strike="noStrike">
                <a:solidFill>
                  <a:srgbClr val="FFFFFF"/>
                </a:solidFill>
                <a:latin typeface="Calibri"/>
                <a:ea typeface="Calibri"/>
                <a:cs typeface="Calibri"/>
                <a:sym typeface="Calibri"/>
              </a:rPr>
              <a:t>4</a:t>
            </a:r>
            <a:endParaRPr b="0" i="0" sz="1000" u="none" cap="none" strike="noStrike">
              <a:solidFill>
                <a:schemeClr val="dk1"/>
              </a:solidFill>
              <a:latin typeface="Calibri"/>
              <a:ea typeface="Calibri"/>
              <a:cs typeface="Calibri"/>
              <a:sym typeface="Calibri"/>
            </a:endParaRPr>
          </a:p>
        </p:txBody>
      </p:sp>
      <p:sp>
        <p:nvSpPr>
          <p:cNvPr id="164" name="Google Shape;164;p4"/>
          <p:cNvSpPr/>
          <p:nvPr/>
        </p:nvSpPr>
        <p:spPr>
          <a:xfrm>
            <a:off x="5358384" y="4325112"/>
            <a:ext cx="10972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800"/>
              <a:buFont typeface="Calibri"/>
              <a:buNone/>
            </a:pPr>
            <a:r>
              <a:rPr b="0" i="0" lang="en-US" sz="800" u="none" cap="none" strike="noStrike">
                <a:solidFill>
                  <a:srgbClr val="FFFFFF"/>
                </a:solidFill>
                <a:latin typeface="Calibri"/>
                <a:ea typeface="Calibri"/>
                <a:cs typeface="Calibri"/>
                <a:sym typeface="Calibri"/>
              </a:rPr>
              <a:t>Analisis &amp; Visualisasi</a:t>
            </a:r>
            <a:endParaRPr b="0" i="0" sz="800" u="none" cap="none" strike="noStrike">
              <a:solidFill>
                <a:schemeClr val="dk1"/>
              </a:solidFill>
              <a:latin typeface="Calibri"/>
              <a:ea typeface="Calibri"/>
              <a:cs typeface="Calibri"/>
              <a:sym typeface="Calibri"/>
            </a:endParaRPr>
          </a:p>
        </p:txBody>
      </p:sp>
      <p:sp>
        <p:nvSpPr>
          <p:cNvPr id="165" name="Google Shape;165;p4"/>
          <p:cNvSpPr/>
          <p:nvPr/>
        </p:nvSpPr>
        <p:spPr>
          <a:xfrm>
            <a:off x="6071616" y="4005072"/>
            <a:ext cx="4114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AAAAA"/>
              </a:buClr>
              <a:buSzPts val="1300"/>
              <a:buFont typeface="Calibri"/>
              <a:buNone/>
            </a:pPr>
            <a:r>
              <a:rPr b="0" i="0" lang="en-US" sz="1300" u="none" cap="none" strike="noStrike">
                <a:solidFill>
                  <a:srgbClr val="AAAAAA"/>
                </a:solidFill>
                <a:latin typeface="Calibri"/>
                <a:ea typeface="Calibri"/>
                <a:cs typeface="Calibri"/>
                <a:sym typeface="Calibri"/>
              </a:rPr>
              <a:t>→</a:t>
            </a:r>
            <a:endParaRPr b="0" i="0" sz="1300" u="none" cap="none" strike="noStrike">
              <a:solidFill>
                <a:schemeClr val="dk1"/>
              </a:solidFill>
              <a:latin typeface="Calibri"/>
              <a:ea typeface="Calibri"/>
              <a:cs typeface="Calibri"/>
              <a:sym typeface="Calibri"/>
            </a:endParaRPr>
          </a:p>
        </p:txBody>
      </p:sp>
      <p:sp>
        <p:nvSpPr>
          <p:cNvPr id="166" name="Google Shape;166;p4"/>
          <p:cNvSpPr/>
          <p:nvPr/>
        </p:nvSpPr>
        <p:spPr>
          <a:xfrm>
            <a:off x="7388352" y="3986784"/>
            <a:ext cx="320040" cy="320040"/>
          </a:xfrm>
          <a:prstGeom prst="ellipse">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4"/>
          <p:cNvSpPr/>
          <p:nvPr/>
        </p:nvSpPr>
        <p:spPr>
          <a:xfrm>
            <a:off x="7388352" y="3986784"/>
            <a:ext cx="320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i="0" lang="en-US" sz="1000" u="none" cap="none" strike="noStrike">
                <a:solidFill>
                  <a:srgbClr val="FFFFFF"/>
                </a:solidFill>
                <a:latin typeface="Calibri"/>
                <a:ea typeface="Calibri"/>
                <a:cs typeface="Calibri"/>
                <a:sym typeface="Calibri"/>
              </a:rPr>
              <a:t>5</a:t>
            </a:r>
            <a:endParaRPr b="0" i="0" sz="1000" u="none" cap="none" strike="noStrike">
              <a:solidFill>
                <a:schemeClr val="dk1"/>
              </a:solidFill>
              <a:latin typeface="Calibri"/>
              <a:ea typeface="Calibri"/>
              <a:cs typeface="Calibri"/>
              <a:sym typeface="Calibri"/>
            </a:endParaRPr>
          </a:p>
        </p:txBody>
      </p:sp>
      <p:sp>
        <p:nvSpPr>
          <p:cNvPr id="168" name="Google Shape;168;p4"/>
          <p:cNvSpPr/>
          <p:nvPr/>
        </p:nvSpPr>
        <p:spPr>
          <a:xfrm>
            <a:off x="7022592" y="4325112"/>
            <a:ext cx="10972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800"/>
              <a:buFont typeface="Calibri"/>
              <a:buNone/>
            </a:pPr>
            <a:r>
              <a:rPr b="0" i="0" lang="en-US" sz="800" u="none" cap="none" strike="noStrike">
                <a:solidFill>
                  <a:srgbClr val="FFFFFF"/>
                </a:solidFill>
                <a:latin typeface="Calibri"/>
                <a:ea typeface="Calibri"/>
                <a:cs typeface="Calibri"/>
                <a:sym typeface="Calibri"/>
              </a:rPr>
              <a:t>Insight &amp; Rekomendasi</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sp>
        <p:nvSpPr>
          <p:cNvPr id="174" name="Google Shape;174;p5"/>
          <p:cNvSpPr/>
          <p:nvPr/>
        </p:nvSpPr>
        <p:spPr>
          <a:xfrm>
            <a:off x="0" y="0"/>
            <a:ext cx="9144000" cy="1051560"/>
          </a:xfrm>
          <a:prstGeom prst="rect">
            <a:avLst/>
          </a:prstGeom>
          <a:solidFill>
            <a:srgbClr val="1414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5"/>
          <p:cNvSpPr/>
          <p:nvPr/>
        </p:nvSpPr>
        <p:spPr>
          <a:xfrm>
            <a:off x="457200" y="73152"/>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000"/>
              <a:buFont typeface="Calibri"/>
              <a:buNone/>
            </a:pPr>
            <a:r>
              <a:rPr b="1" i="0" lang="en-US" sz="1000" u="none" cap="none" strike="noStrike">
                <a:solidFill>
                  <a:srgbClr val="E50914"/>
                </a:solidFill>
                <a:latin typeface="Calibri"/>
                <a:ea typeface="Calibri"/>
                <a:cs typeface="Calibri"/>
                <a:sym typeface="Calibri"/>
              </a:rPr>
              <a:t>04  /  ANALISIS 1</a:t>
            </a:r>
            <a:endParaRPr b="0" i="0" sz="1000" u="none" cap="none" strike="noStrike">
              <a:solidFill>
                <a:schemeClr val="dk1"/>
              </a:solidFill>
              <a:latin typeface="Calibri"/>
              <a:ea typeface="Calibri"/>
              <a:cs typeface="Calibri"/>
              <a:sym typeface="Calibri"/>
            </a:endParaRPr>
          </a:p>
        </p:txBody>
      </p:sp>
      <p:sp>
        <p:nvSpPr>
          <p:cNvPr id="176" name="Google Shape;176;p5"/>
          <p:cNvSpPr/>
          <p:nvPr/>
        </p:nvSpPr>
        <p:spPr>
          <a:xfrm>
            <a:off x="457200" y="347472"/>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600"/>
              <a:buFont typeface="Arial Black"/>
              <a:buNone/>
            </a:pPr>
            <a:r>
              <a:rPr b="1" i="0" lang="en-US" sz="2600" u="none" cap="none" strike="noStrike">
                <a:solidFill>
                  <a:srgbClr val="FFFFFF"/>
                </a:solidFill>
                <a:latin typeface="Arial Black"/>
                <a:ea typeface="Arial Black"/>
                <a:cs typeface="Arial Black"/>
                <a:sym typeface="Arial Black"/>
              </a:rPr>
              <a:t>Proporsi Konten</a:t>
            </a:r>
            <a:endParaRPr b="0" i="0" sz="2600" u="none" cap="none" strike="noStrike">
              <a:solidFill>
                <a:schemeClr val="dk1"/>
              </a:solidFill>
              <a:latin typeface="Calibri"/>
              <a:ea typeface="Calibri"/>
              <a:cs typeface="Calibri"/>
              <a:sym typeface="Calibri"/>
            </a:endParaRPr>
          </a:p>
        </p:txBody>
      </p:sp>
      <p:sp>
        <p:nvSpPr>
          <p:cNvPr id="177" name="Google Shape;177;p5"/>
          <p:cNvSpPr/>
          <p:nvPr/>
        </p:nvSpPr>
        <p:spPr>
          <a:xfrm>
            <a:off x="304800" y="4060950"/>
            <a:ext cx="8534400" cy="855600"/>
          </a:xfrm>
          <a:prstGeom prst="rect">
            <a:avLst/>
          </a:prstGeom>
          <a:solidFill>
            <a:srgbClr val="F5F5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5"/>
          <p:cNvSpPr/>
          <p:nvPr/>
        </p:nvSpPr>
        <p:spPr>
          <a:xfrm>
            <a:off x="264575" y="4061100"/>
            <a:ext cx="74700" cy="855600"/>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5"/>
          <p:cNvSpPr/>
          <p:nvPr/>
        </p:nvSpPr>
        <p:spPr>
          <a:xfrm>
            <a:off x="405775" y="4133100"/>
            <a:ext cx="8280900" cy="726300"/>
          </a:xfrm>
          <a:prstGeom prst="rect">
            <a:avLst/>
          </a:prstGeom>
          <a:noFill/>
          <a:ln>
            <a:noFill/>
          </a:ln>
        </p:spPr>
        <p:txBody>
          <a:bodyPr anchorCtr="0" anchor="ctr" bIns="0" lIns="0" spcFirstLastPara="1" rIns="0" wrap="square" tIns="0">
            <a:noAutofit/>
          </a:bodyPr>
          <a:lstStyle/>
          <a:p>
            <a:pPr indent="0" lvl="0" marL="0" marR="0" rtl="0" algn="just">
              <a:spcBef>
                <a:spcPts val="0"/>
              </a:spcBef>
              <a:spcAft>
                <a:spcPts val="0"/>
              </a:spcAft>
              <a:buClr>
                <a:srgbClr val="333333"/>
              </a:buClr>
              <a:buSzPts val="1000"/>
              <a:buFont typeface="Calibri"/>
              <a:buNone/>
            </a:pPr>
            <a:r>
              <a:rPr b="1" i="0" lang="en-US" sz="1000" u="none" cap="none" strike="noStrike">
                <a:solidFill>
                  <a:srgbClr val="333333"/>
                </a:solidFill>
                <a:latin typeface="Calibri"/>
                <a:ea typeface="Calibri"/>
                <a:cs typeface="Calibri"/>
                <a:sym typeface="Calibri"/>
              </a:rPr>
              <a:t>Dataset</a:t>
            </a:r>
            <a:r>
              <a:rPr b="0" i="0" lang="en-US" sz="1000" u="none" cap="none" strike="noStrike">
                <a:solidFill>
                  <a:srgbClr val="333333"/>
                </a:solidFill>
                <a:latin typeface="Calibri"/>
                <a:ea typeface="Calibri"/>
                <a:cs typeface="Calibri"/>
                <a:sym typeface="Calibri"/>
              </a:rPr>
              <a:t> </a:t>
            </a:r>
            <a:r>
              <a:rPr lang="en-US" sz="1000">
                <a:solidFill>
                  <a:srgbClr val="333333"/>
                </a:solidFill>
                <a:latin typeface="Calibri"/>
                <a:ea typeface="Calibri"/>
                <a:cs typeface="Calibri"/>
                <a:sym typeface="Calibri"/>
              </a:rPr>
              <a:t>konten Netflix </a:t>
            </a:r>
            <a:r>
              <a:rPr b="0" i="0" lang="en-US" sz="1000" u="none" cap="none" strike="noStrike">
                <a:solidFill>
                  <a:srgbClr val="333333"/>
                </a:solidFill>
                <a:latin typeface="Calibri"/>
                <a:ea typeface="Calibri"/>
                <a:cs typeface="Calibri"/>
                <a:sym typeface="Calibri"/>
              </a:rPr>
              <a:t>di-sampling </a:t>
            </a:r>
            <a:r>
              <a:rPr b="1" i="0" lang="en-US" sz="1000" u="none" cap="none" strike="noStrike">
                <a:solidFill>
                  <a:srgbClr val="333333"/>
                </a:solidFill>
                <a:latin typeface="Calibri"/>
                <a:ea typeface="Calibri"/>
                <a:cs typeface="Calibri"/>
                <a:sym typeface="Calibri"/>
              </a:rPr>
              <a:t>secara merata antara Movie dan TV Show, </a:t>
            </a:r>
            <a:r>
              <a:rPr i="0" lang="en-US" sz="1000" u="none" cap="none" strike="noStrike">
                <a:solidFill>
                  <a:srgbClr val="333333"/>
                </a:solidFill>
                <a:latin typeface="Calibri"/>
                <a:ea typeface="Calibri"/>
                <a:cs typeface="Calibri"/>
                <a:sym typeface="Calibri"/>
              </a:rPr>
              <a:t>masing</a:t>
            </a:r>
            <a:r>
              <a:rPr lang="en-US" sz="1000">
                <a:solidFill>
                  <a:srgbClr val="333333"/>
                </a:solidFill>
                <a:latin typeface="Calibri"/>
                <a:ea typeface="Calibri"/>
                <a:cs typeface="Calibri"/>
                <a:sym typeface="Calibri"/>
              </a:rPr>
              <a:t>-masing se</a:t>
            </a:r>
            <a:r>
              <a:rPr lang="en-US" sz="1000">
                <a:solidFill>
                  <a:srgbClr val="333333"/>
                </a:solidFill>
                <a:latin typeface="Calibri"/>
                <a:ea typeface="Calibri"/>
                <a:cs typeface="Calibri"/>
                <a:sym typeface="Calibri"/>
              </a:rPr>
              <a:t>besar</a:t>
            </a:r>
            <a:r>
              <a:rPr b="1" lang="en-US" sz="1000">
                <a:solidFill>
                  <a:srgbClr val="333333"/>
                </a:solidFill>
                <a:latin typeface="Calibri"/>
                <a:ea typeface="Calibri"/>
                <a:cs typeface="Calibri"/>
                <a:sym typeface="Calibri"/>
              </a:rPr>
              <a:t> 50%</a:t>
            </a:r>
            <a:r>
              <a:rPr lang="en-US" sz="1000">
                <a:solidFill>
                  <a:srgbClr val="333333"/>
                </a:solidFill>
                <a:latin typeface="Calibri"/>
                <a:ea typeface="Calibri"/>
                <a:cs typeface="Calibri"/>
                <a:sym typeface="Calibri"/>
              </a:rPr>
              <a:t> (</a:t>
            </a:r>
            <a:r>
              <a:rPr b="1" lang="en-US" sz="1000">
                <a:solidFill>
                  <a:srgbClr val="333333"/>
                </a:solidFill>
                <a:latin typeface="Calibri"/>
                <a:ea typeface="Calibri"/>
                <a:cs typeface="Calibri"/>
                <a:sym typeface="Calibri"/>
              </a:rPr>
              <a:t>16.000 konten</a:t>
            </a:r>
            <a:r>
              <a:rPr lang="en-US" sz="1000">
                <a:solidFill>
                  <a:srgbClr val="333333"/>
                </a:solidFill>
                <a:latin typeface="Calibri"/>
                <a:ea typeface="Calibri"/>
                <a:cs typeface="Calibri"/>
                <a:sym typeface="Calibri"/>
              </a:rPr>
              <a:t>)</a:t>
            </a:r>
            <a:r>
              <a:rPr b="0" i="0" lang="en-US" sz="1000" u="none" cap="none" strike="noStrike">
                <a:solidFill>
                  <a:srgbClr val="333333"/>
                </a:solidFill>
                <a:latin typeface="Calibri"/>
                <a:ea typeface="Calibri"/>
                <a:cs typeface="Calibri"/>
                <a:sym typeface="Calibri"/>
              </a:rPr>
              <a:t>. </a:t>
            </a:r>
            <a:r>
              <a:rPr lang="en-US" sz="1000">
                <a:solidFill>
                  <a:srgbClr val="333333"/>
                </a:solidFill>
                <a:latin typeface="Calibri"/>
                <a:ea typeface="Calibri"/>
                <a:cs typeface="Calibri"/>
                <a:sym typeface="Calibri"/>
              </a:rPr>
              <a:t>S</a:t>
            </a:r>
            <a:r>
              <a:rPr b="0" i="0" lang="en-US" sz="1000" u="none" cap="none" strike="noStrike">
                <a:solidFill>
                  <a:srgbClr val="333333"/>
                </a:solidFill>
                <a:latin typeface="Calibri"/>
                <a:ea typeface="Calibri"/>
                <a:cs typeface="Calibri"/>
                <a:sym typeface="Calibri"/>
              </a:rPr>
              <a:t>trategi Netflix untuk melayani dua segmen penonton sekaligus</a:t>
            </a:r>
            <a:r>
              <a:rPr lang="en-US" sz="1000">
                <a:solidFill>
                  <a:srgbClr val="333333"/>
                </a:solidFill>
                <a:latin typeface="Calibri"/>
                <a:ea typeface="Calibri"/>
                <a:cs typeface="Calibri"/>
                <a:sym typeface="Calibri"/>
              </a:rPr>
              <a:t>, yaitu </a:t>
            </a:r>
            <a:r>
              <a:rPr b="0" i="0" lang="en-US" sz="1000" u="none" cap="none" strike="noStrike">
                <a:solidFill>
                  <a:srgbClr val="333333"/>
                </a:solidFill>
                <a:latin typeface="Calibri"/>
                <a:ea typeface="Calibri"/>
                <a:cs typeface="Calibri"/>
                <a:sym typeface="Calibri"/>
              </a:rPr>
              <a:t>penonton yang menyukai konten singkat (Movie) dan penonton yang menyukai konten berseri (TV Show). Meski jumlahnya setara, data rating menunjukkan bahwa </a:t>
            </a:r>
            <a:r>
              <a:rPr b="1" i="0" lang="en-US" sz="1000" u="none" cap="none" strike="noStrike">
                <a:solidFill>
                  <a:srgbClr val="333333"/>
                </a:solidFill>
                <a:latin typeface="Calibri"/>
                <a:ea typeface="Calibri"/>
                <a:cs typeface="Calibri"/>
                <a:sym typeface="Calibri"/>
              </a:rPr>
              <a:t>TV Show secara konsisten mendapat apresiasi lebih tinggi dari penonton</a:t>
            </a:r>
            <a:r>
              <a:rPr b="0" i="0" lang="en-US" sz="1000" u="none" cap="none" strike="noStrike">
                <a:solidFill>
                  <a:srgbClr val="333333"/>
                </a:solidFill>
                <a:latin typeface="Calibri"/>
                <a:ea typeface="Calibri"/>
                <a:cs typeface="Calibri"/>
                <a:sym typeface="Calibri"/>
              </a:rPr>
              <a:t>, mengindikasikan bahwa investasi lebih besar pada format serial berpotensi meningkatkan kepuasan dan retensi subscriber Netflix.</a:t>
            </a:r>
            <a:endParaRPr b="0" i="0" sz="1000" u="none" cap="none" strike="noStrike">
              <a:solidFill>
                <a:schemeClr val="dk1"/>
              </a:solidFill>
              <a:latin typeface="Calibri"/>
              <a:ea typeface="Calibri"/>
              <a:cs typeface="Calibri"/>
              <a:sym typeface="Calibri"/>
            </a:endParaRPr>
          </a:p>
        </p:txBody>
      </p:sp>
      <p:pic>
        <p:nvPicPr>
          <p:cNvPr id="180" name="Google Shape;180;p5"/>
          <p:cNvPicPr preferRelativeResize="0"/>
          <p:nvPr/>
        </p:nvPicPr>
        <p:blipFill>
          <a:blip r:embed="rId3">
            <a:alphaModFix/>
          </a:blip>
          <a:stretch>
            <a:fillRect/>
          </a:stretch>
        </p:blipFill>
        <p:spPr>
          <a:xfrm>
            <a:off x="6781800" y="1203950"/>
            <a:ext cx="1841225" cy="2704600"/>
          </a:xfrm>
          <a:prstGeom prst="rect">
            <a:avLst/>
          </a:prstGeom>
          <a:noFill/>
          <a:ln>
            <a:noFill/>
          </a:ln>
        </p:spPr>
      </p:pic>
      <p:pic>
        <p:nvPicPr>
          <p:cNvPr id="181" name="Google Shape;181;p5"/>
          <p:cNvPicPr preferRelativeResize="0"/>
          <p:nvPr/>
        </p:nvPicPr>
        <p:blipFill>
          <a:blip r:embed="rId4">
            <a:alphaModFix/>
          </a:blip>
          <a:stretch>
            <a:fillRect/>
          </a:stretch>
        </p:blipFill>
        <p:spPr>
          <a:xfrm>
            <a:off x="152400" y="1203960"/>
            <a:ext cx="5669301" cy="240435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sp>
        <p:nvSpPr>
          <p:cNvPr id="187" name="Google Shape;187;g3d9e4566dc7_1_1"/>
          <p:cNvSpPr/>
          <p:nvPr/>
        </p:nvSpPr>
        <p:spPr>
          <a:xfrm>
            <a:off x="0" y="0"/>
            <a:ext cx="9144000" cy="1051500"/>
          </a:xfrm>
          <a:prstGeom prst="rect">
            <a:avLst/>
          </a:prstGeom>
          <a:solidFill>
            <a:srgbClr val="1414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g3d9e4566dc7_1_1"/>
          <p:cNvSpPr/>
          <p:nvPr/>
        </p:nvSpPr>
        <p:spPr>
          <a:xfrm>
            <a:off x="457200" y="73152"/>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000"/>
              <a:buFont typeface="Calibri"/>
              <a:buNone/>
            </a:pPr>
            <a:r>
              <a:rPr b="1" i="0" lang="en-US" sz="1000" u="none" cap="none" strike="noStrike">
                <a:solidFill>
                  <a:srgbClr val="E50914"/>
                </a:solidFill>
                <a:latin typeface="Calibri"/>
                <a:ea typeface="Calibri"/>
                <a:cs typeface="Calibri"/>
                <a:sym typeface="Calibri"/>
              </a:rPr>
              <a:t>0</a:t>
            </a:r>
            <a:r>
              <a:rPr b="1" lang="en-US" sz="1000">
                <a:solidFill>
                  <a:srgbClr val="E50914"/>
                </a:solidFill>
                <a:latin typeface="Calibri"/>
                <a:ea typeface="Calibri"/>
                <a:cs typeface="Calibri"/>
                <a:sym typeface="Calibri"/>
              </a:rPr>
              <a:t>5</a:t>
            </a:r>
            <a:r>
              <a:rPr b="1" i="0" lang="en-US" sz="1000" u="none" cap="none" strike="noStrike">
                <a:solidFill>
                  <a:srgbClr val="E50914"/>
                </a:solidFill>
                <a:latin typeface="Calibri"/>
                <a:ea typeface="Calibri"/>
                <a:cs typeface="Calibri"/>
                <a:sym typeface="Calibri"/>
              </a:rPr>
              <a:t>  /  ANALISIS 2</a:t>
            </a:r>
            <a:endParaRPr b="0" i="0" sz="1000" u="none" cap="none" strike="noStrike">
              <a:solidFill>
                <a:schemeClr val="dk1"/>
              </a:solidFill>
              <a:latin typeface="Calibri"/>
              <a:ea typeface="Calibri"/>
              <a:cs typeface="Calibri"/>
              <a:sym typeface="Calibri"/>
            </a:endParaRPr>
          </a:p>
        </p:txBody>
      </p:sp>
      <p:sp>
        <p:nvSpPr>
          <p:cNvPr id="189" name="Google Shape;189;g3d9e4566dc7_1_1"/>
          <p:cNvSpPr/>
          <p:nvPr/>
        </p:nvSpPr>
        <p:spPr>
          <a:xfrm>
            <a:off x="457200" y="347472"/>
            <a:ext cx="8229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600"/>
              <a:buFont typeface="Arial Black"/>
              <a:buNone/>
            </a:pPr>
            <a:r>
              <a:rPr b="1" i="0" lang="en-US" sz="2600" u="none" cap="none" strike="noStrike">
                <a:solidFill>
                  <a:srgbClr val="FFFFFF"/>
                </a:solidFill>
                <a:latin typeface="Arial Black"/>
                <a:ea typeface="Arial Black"/>
                <a:cs typeface="Arial Black"/>
                <a:sym typeface="Arial Black"/>
              </a:rPr>
              <a:t>Tren Kualitas Konten </a:t>
            </a:r>
            <a:r>
              <a:rPr b="1" lang="en-US" sz="2600">
                <a:solidFill>
                  <a:srgbClr val="FFFFFF"/>
                </a:solidFill>
                <a:latin typeface="Arial Black"/>
                <a:ea typeface="Arial Black"/>
                <a:cs typeface="Arial Black"/>
                <a:sym typeface="Arial Black"/>
              </a:rPr>
              <a:t>per Tahun</a:t>
            </a:r>
            <a:endParaRPr b="0" i="0" sz="2600" u="none" cap="none" strike="noStrike">
              <a:solidFill>
                <a:schemeClr val="dk1"/>
              </a:solidFill>
              <a:latin typeface="Calibri"/>
              <a:ea typeface="Calibri"/>
              <a:cs typeface="Calibri"/>
              <a:sym typeface="Calibri"/>
            </a:endParaRPr>
          </a:p>
        </p:txBody>
      </p:sp>
      <p:sp>
        <p:nvSpPr>
          <p:cNvPr id="190" name="Google Shape;190;g3d9e4566dc7_1_1"/>
          <p:cNvSpPr/>
          <p:nvPr/>
        </p:nvSpPr>
        <p:spPr>
          <a:xfrm>
            <a:off x="274325" y="3892525"/>
            <a:ext cx="8559900" cy="1051500"/>
          </a:xfrm>
          <a:prstGeom prst="rect">
            <a:avLst/>
          </a:prstGeom>
          <a:solidFill>
            <a:srgbClr val="F5F5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g3d9e4566dc7_1_1"/>
          <p:cNvSpPr/>
          <p:nvPr/>
        </p:nvSpPr>
        <p:spPr>
          <a:xfrm>
            <a:off x="274325" y="3902400"/>
            <a:ext cx="104100" cy="1051500"/>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2" name="Google Shape;192;g3d9e4566dc7_1_1"/>
          <p:cNvPicPr preferRelativeResize="0"/>
          <p:nvPr/>
        </p:nvPicPr>
        <p:blipFill rotWithShape="1">
          <a:blip r:embed="rId3">
            <a:alphaModFix/>
          </a:blip>
          <a:srcRect b="0" l="0" r="547" t="0"/>
          <a:stretch/>
        </p:blipFill>
        <p:spPr>
          <a:xfrm>
            <a:off x="378425" y="1152500"/>
            <a:ext cx="8512701" cy="2629550"/>
          </a:xfrm>
          <a:prstGeom prst="rect">
            <a:avLst/>
          </a:prstGeom>
          <a:noFill/>
          <a:ln>
            <a:noFill/>
          </a:ln>
        </p:spPr>
      </p:pic>
      <p:sp>
        <p:nvSpPr>
          <p:cNvPr id="193" name="Google Shape;193;g3d9e4566dc7_1_1"/>
          <p:cNvSpPr/>
          <p:nvPr/>
        </p:nvSpPr>
        <p:spPr>
          <a:xfrm>
            <a:off x="563875" y="4093825"/>
            <a:ext cx="8138400" cy="850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333333"/>
              </a:buClr>
              <a:buSzPts val="1000"/>
              <a:buFont typeface="Calibri"/>
              <a:buNone/>
            </a:pPr>
            <a:r>
              <a:rPr b="1" lang="en-US" sz="1000">
                <a:solidFill>
                  <a:srgbClr val="333333"/>
                </a:solidFill>
                <a:latin typeface="Calibri"/>
                <a:ea typeface="Calibri"/>
                <a:cs typeface="Calibri"/>
                <a:sym typeface="Calibri"/>
              </a:rPr>
              <a:t>Rating</a:t>
            </a:r>
            <a:r>
              <a:rPr lang="en-US" sz="1000">
                <a:solidFill>
                  <a:srgbClr val="333333"/>
                </a:solidFill>
                <a:latin typeface="Calibri"/>
                <a:ea typeface="Calibri"/>
                <a:cs typeface="Calibri"/>
                <a:sym typeface="Calibri"/>
              </a:rPr>
              <a:t> konten Netflix tumbuh konsisten selama 14 tahun terakhir, meningkat dari </a:t>
            </a:r>
            <a:r>
              <a:rPr b="1" lang="en-US" sz="1000">
                <a:solidFill>
                  <a:srgbClr val="333333"/>
                </a:solidFill>
                <a:latin typeface="Calibri"/>
                <a:ea typeface="Calibri"/>
                <a:cs typeface="Calibri"/>
                <a:sym typeface="Calibri"/>
              </a:rPr>
              <a:t>5,40 </a:t>
            </a:r>
            <a:r>
              <a:rPr lang="en-US" sz="1000">
                <a:solidFill>
                  <a:srgbClr val="333333"/>
                </a:solidFill>
                <a:latin typeface="Calibri"/>
                <a:ea typeface="Calibri"/>
                <a:cs typeface="Calibri"/>
                <a:sym typeface="Calibri"/>
              </a:rPr>
              <a:t>pada 2010 menjadi </a:t>
            </a:r>
            <a:r>
              <a:rPr b="1" lang="en-US" sz="1000">
                <a:solidFill>
                  <a:srgbClr val="333333"/>
                </a:solidFill>
                <a:latin typeface="Calibri"/>
                <a:ea typeface="Calibri"/>
                <a:cs typeface="Calibri"/>
                <a:sym typeface="Calibri"/>
              </a:rPr>
              <a:t>6,36</a:t>
            </a:r>
            <a:r>
              <a:rPr lang="en-US" sz="1000">
                <a:solidFill>
                  <a:srgbClr val="333333"/>
                </a:solidFill>
                <a:latin typeface="Calibri"/>
                <a:ea typeface="Calibri"/>
                <a:cs typeface="Calibri"/>
                <a:sym typeface="Calibri"/>
              </a:rPr>
              <a:t> pada 2024 (</a:t>
            </a:r>
            <a:r>
              <a:rPr b="1" lang="en-US" sz="1000">
                <a:solidFill>
                  <a:schemeClr val="accent6"/>
                </a:solidFill>
                <a:latin typeface="Calibri"/>
                <a:ea typeface="Calibri"/>
                <a:cs typeface="Calibri"/>
                <a:sym typeface="Calibri"/>
              </a:rPr>
              <a:t>+0,96 poin</a:t>
            </a:r>
            <a:r>
              <a:rPr lang="en-US" sz="1000">
                <a:solidFill>
                  <a:srgbClr val="333333"/>
                </a:solidFill>
                <a:latin typeface="Calibri"/>
                <a:ea typeface="Calibri"/>
                <a:cs typeface="Calibri"/>
                <a:sym typeface="Calibri"/>
              </a:rPr>
              <a:t>). Penurunan tajam pada 2025 terjadi karena </a:t>
            </a:r>
            <a:r>
              <a:rPr b="1" lang="en-US" sz="1000">
                <a:solidFill>
                  <a:srgbClr val="333333"/>
                </a:solidFill>
                <a:latin typeface="Calibri"/>
                <a:ea typeface="Calibri"/>
                <a:cs typeface="Calibri"/>
                <a:sym typeface="Calibri"/>
              </a:rPr>
              <a:t>data di tahun 2025 belum lengkap</a:t>
            </a:r>
            <a:r>
              <a:rPr lang="en-US" sz="1000">
                <a:solidFill>
                  <a:srgbClr val="333333"/>
                </a:solidFill>
                <a:latin typeface="Calibri"/>
                <a:ea typeface="Calibri"/>
                <a:cs typeface="Calibri"/>
                <a:sym typeface="Calibri"/>
              </a:rPr>
              <a:t> sehingga belum representatif.</a:t>
            </a:r>
            <a:endParaRPr sz="1000">
              <a:solidFill>
                <a:srgbClr val="333333"/>
              </a:solidFill>
              <a:latin typeface="Calibri"/>
              <a:ea typeface="Calibri"/>
              <a:cs typeface="Calibri"/>
              <a:sym typeface="Calibri"/>
            </a:endParaRPr>
          </a:p>
          <a:p>
            <a:pPr indent="0" lvl="0" marL="0" rtl="0" algn="l">
              <a:spcBef>
                <a:spcPts val="0"/>
              </a:spcBef>
              <a:spcAft>
                <a:spcPts val="0"/>
              </a:spcAft>
              <a:buClr>
                <a:srgbClr val="333333"/>
              </a:buClr>
              <a:buSzPts val="1000"/>
              <a:buFont typeface="Calibri"/>
              <a:buNone/>
            </a:pPr>
            <a:r>
              <a:t/>
            </a:r>
            <a:endParaRPr sz="1000">
              <a:solidFill>
                <a:srgbClr val="333333"/>
              </a:solidFill>
              <a:latin typeface="Calibri"/>
              <a:ea typeface="Calibri"/>
              <a:cs typeface="Calibri"/>
              <a:sym typeface="Calibri"/>
            </a:endParaRPr>
          </a:p>
          <a:p>
            <a:pPr indent="0" lvl="0" marL="0" rtl="0" algn="l">
              <a:spcBef>
                <a:spcPts val="0"/>
              </a:spcBef>
              <a:spcAft>
                <a:spcPts val="0"/>
              </a:spcAft>
              <a:buClr>
                <a:srgbClr val="333333"/>
              </a:buClr>
              <a:buSzPts val="1000"/>
              <a:buFont typeface="Calibri"/>
              <a:buNone/>
            </a:pPr>
            <a:r>
              <a:rPr lang="en-US" sz="1000">
                <a:solidFill>
                  <a:srgbClr val="333333"/>
                </a:solidFill>
                <a:latin typeface="Calibri"/>
                <a:ea typeface="Calibri"/>
                <a:cs typeface="Calibri"/>
                <a:sym typeface="Calibri"/>
              </a:rPr>
              <a:t>Dari sisi </a:t>
            </a:r>
            <a:r>
              <a:rPr b="1" lang="en-US" sz="1000">
                <a:solidFill>
                  <a:srgbClr val="333333"/>
                </a:solidFill>
                <a:latin typeface="Calibri"/>
                <a:ea typeface="Calibri"/>
                <a:cs typeface="Calibri"/>
                <a:sym typeface="Calibri"/>
              </a:rPr>
              <a:t>popularitas</a:t>
            </a:r>
            <a:r>
              <a:rPr lang="en-US" sz="1000">
                <a:solidFill>
                  <a:srgbClr val="333333"/>
                </a:solidFill>
                <a:latin typeface="Calibri"/>
                <a:ea typeface="Calibri"/>
                <a:cs typeface="Calibri"/>
                <a:sym typeface="Calibri"/>
              </a:rPr>
              <a:t>, </a:t>
            </a:r>
            <a:r>
              <a:rPr b="1" lang="en-US" sz="1000">
                <a:solidFill>
                  <a:srgbClr val="333333"/>
                </a:solidFill>
                <a:latin typeface="Calibri"/>
                <a:ea typeface="Calibri"/>
                <a:cs typeface="Calibri"/>
                <a:sym typeface="Calibri"/>
              </a:rPr>
              <a:t>2024</a:t>
            </a:r>
            <a:r>
              <a:rPr lang="en-US" sz="1000">
                <a:solidFill>
                  <a:srgbClr val="333333"/>
                </a:solidFill>
                <a:latin typeface="Calibri"/>
                <a:ea typeface="Calibri"/>
                <a:cs typeface="Calibri"/>
                <a:sym typeface="Calibri"/>
              </a:rPr>
              <a:t> </a:t>
            </a:r>
            <a:r>
              <a:rPr b="1" lang="en-US" sz="1000">
                <a:solidFill>
                  <a:srgbClr val="333333"/>
                </a:solidFill>
                <a:latin typeface="Calibri"/>
                <a:ea typeface="Calibri"/>
                <a:cs typeface="Calibri"/>
                <a:sym typeface="Calibri"/>
              </a:rPr>
              <a:t>mencatat</a:t>
            </a:r>
            <a:r>
              <a:rPr lang="en-US" sz="1000">
                <a:solidFill>
                  <a:srgbClr val="333333"/>
                </a:solidFill>
                <a:latin typeface="Calibri"/>
                <a:ea typeface="Calibri"/>
                <a:cs typeface="Calibri"/>
                <a:sym typeface="Calibri"/>
              </a:rPr>
              <a:t> </a:t>
            </a:r>
            <a:r>
              <a:rPr b="1" lang="en-US" sz="1000">
                <a:solidFill>
                  <a:srgbClr val="333333"/>
                </a:solidFill>
                <a:latin typeface="Calibri"/>
                <a:ea typeface="Calibri"/>
                <a:cs typeface="Calibri"/>
                <a:sym typeface="Calibri"/>
              </a:rPr>
              <a:t>nilai tertinggi</a:t>
            </a:r>
            <a:r>
              <a:rPr lang="en-US" sz="1000">
                <a:solidFill>
                  <a:srgbClr val="333333"/>
                </a:solidFill>
                <a:latin typeface="Calibri"/>
                <a:ea typeface="Calibri"/>
                <a:cs typeface="Calibri"/>
                <a:sym typeface="Calibri"/>
              </a:rPr>
              <a:t> </a:t>
            </a:r>
            <a:r>
              <a:rPr b="1" lang="en-US" sz="1000">
                <a:solidFill>
                  <a:srgbClr val="333333"/>
                </a:solidFill>
                <a:latin typeface="Calibri"/>
                <a:ea typeface="Calibri"/>
                <a:cs typeface="Calibri"/>
                <a:sym typeface="Calibri"/>
              </a:rPr>
              <a:t>sebesar 71,99</a:t>
            </a:r>
            <a:r>
              <a:rPr lang="en-US" sz="1000">
                <a:solidFill>
                  <a:srgbClr val="333333"/>
                </a:solidFill>
                <a:latin typeface="Calibri"/>
                <a:ea typeface="Calibri"/>
                <a:cs typeface="Calibri"/>
                <a:sym typeface="Calibri"/>
              </a:rPr>
              <a:t>, </a:t>
            </a:r>
            <a:r>
              <a:rPr lang="en-US" sz="1000">
                <a:solidFill>
                  <a:srgbClr val="333333"/>
                </a:solidFill>
                <a:latin typeface="Calibri"/>
                <a:ea typeface="Calibri"/>
                <a:cs typeface="Calibri"/>
                <a:sym typeface="Calibri"/>
              </a:rPr>
              <a:t>hampir dua kali lipat rata-rata tahun lainnya. Sementara </a:t>
            </a:r>
            <a:r>
              <a:rPr b="1" lang="en-US" sz="1000">
                <a:solidFill>
                  <a:srgbClr val="333333"/>
                </a:solidFill>
                <a:latin typeface="Calibri"/>
                <a:ea typeface="Calibri"/>
                <a:cs typeface="Calibri"/>
                <a:sym typeface="Calibri"/>
              </a:rPr>
              <a:t>2020</a:t>
            </a:r>
            <a:r>
              <a:rPr lang="en-US" sz="1000">
                <a:solidFill>
                  <a:srgbClr val="333333"/>
                </a:solidFill>
                <a:latin typeface="Calibri"/>
                <a:ea typeface="Calibri"/>
                <a:cs typeface="Calibri"/>
                <a:sym typeface="Calibri"/>
              </a:rPr>
              <a:t> justru </a:t>
            </a:r>
            <a:r>
              <a:rPr b="1" lang="en-US" sz="1000">
                <a:solidFill>
                  <a:srgbClr val="333333"/>
                </a:solidFill>
                <a:latin typeface="Calibri"/>
                <a:ea typeface="Calibri"/>
                <a:cs typeface="Calibri"/>
                <a:sym typeface="Calibri"/>
              </a:rPr>
              <a:t>turun drastis</a:t>
            </a:r>
            <a:r>
              <a:rPr lang="en-US" sz="1000">
                <a:solidFill>
                  <a:srgbClr val="333333"/>
                </a:solidFill>
                <a:latin typeface="Calibri"/>
                <a:ea typeface="Calibri"/>
                <a:cs typeface="Calibri"/>
                <a:sym typeface="Calibri"/>
              </a:rPr>
              <a:t> </a:t>
            </a:r>
            <a:r>
              <a:rPr b="1" lang="en-US" sz="1000">
                <a:solidFill>
                  <a:srgbClr val="E50914"/>
                </a:solidFill>
                <a:latin typeface="Calibri"/>
                <a:ea typeface="Calibri"/>
                <a:cs typeface="Calibri"/>
                <a:sym typeface="Calibri"/>
              </a:rPr>
              <a:t>-30%</a:t>
            </a:r>
            <a:r>
              <a:rPr lang="en-US" sz="1000">
                <a:solidFill>
                  <a:srgbClr val="333333"/>
                </a:solidFill>
                <a:latin typeface="Calibri"/>
                <a:ea typeface="Calibri"/>
                <a:cs typeface="Calibri"/>
                <a:sym typeface="Calibri"/>
              </a:rPr>
              <a:t> akibat terhentinya produksi konten selama pandemi. Yang menarik, rating tinggi dan popularitas tinggi tidak selalu berjalan beriringan, mengindikasikan bahwa banyak konten berkualitas yang belum mendapat eksposur cukup dari algoritma rekomendasi Netflix.</a:t>
            </a:r>
            <a:endParaRPr sz="1000">
              <a:solidFill>
                <a:srgbClr val="333333"/>
              </a:solidFill>
              <a:latin typeface="Calibri"/>
              <a:ea typeface="Calibri"/>
              <a:cs typeface="Calibri"/>
              <a:sym typeface="Calibri"/>
            </a:endParaRPr>
          </a:p>
          <a:p>
            <a:pPr indent="0" lvl="0" marL="0" rtl="0" algn="l">
              <a:spcBef>
                <a:spcPts val="0"/>
              </a:spcBef>
              <a:spcAft>
                <a:spcPts val="0"/>
              </a:spcAft>
              <a:buClr>
                <a:srgbClr val="333333"/>
              </a:buClr>
              <a:buSzPts val="1000"/>
              <a:buFont typeface="Calibri"/>
              <a:buNone/>
            </a:pPr>
            <a:r>
              <a:t/>
            </a:r>
            <a:endParaRPr sz="1000">
              <a:solidFill>
                <a:srgbClr val="333333"/>
              </a:solidFill>
              <a:latin typeface="Calibri"/>
              <a:ea typeface="Calibri"/>
              <a:cs typeface="Calibri"/>
              <a:sym typeface="Calibri"/>
            </a:endParaRPr>
          </a:p>
          <a:p>
            <a:pPr indent="0" lvl="0" marL="0" rtl="0" algn="l">
              <a:spcBef>
                <a:spcPts val="0"/>
              </a:spcBef>
              <a:spcAft>
                <a:spcPts val="0"/>
              </a:spcAft>
              <a:buClr>
                <a:srgbClr val="333333"/>
              </a:buClr>
              <a:buSzPts val="1000"/>
              <a:buFont typeface="Calibri"/>
              <a:buNone/>
            </a:pPr>
            <a:r>
              <a:t/>
            </a:r>
            <a:endParaRPr sz="1000">
              <a:solidFill>
                <a:srgbClr val="333333"/>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g3d9e4566dc7_1_20"/>
          <p:cNvSpPr/>
          <p:nvPr/>
        </p:nvSpPr>
        <p:spPr>
          <a:xfrm>
            <a:off x="0" y="0"/>
            <a:ext cx="9144000" cy="1051500"/>
          </a:xfrm>
          <a:prstGeom prst="rect">
            <a:avLst/>
          </a:prstGeom>
          <a:solidFill>
            <a:srgbClr val="1414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g3d9e4566dc7_1_20"/>
          <p:cNvSpPr/>
          <p:nvPr/>
        </p:nvSpPr>
        <p:spPr>
          <a:xfrm>
            <a:off x="457200" y="73152"/>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000"/>
              <a:buFont typeface="Calibri"/>
              <a:buNone/>
            </a:pPr>
            <a:r>
              <a:rPr b="1" i="0" lang="en-US" sz="1000" u="none" cap="none" strike="noStrike">
                <a:solidFill>
                  <a:srgbClr val="E50914"/>
                </a:solidFill>
                <a:latin typeface="Calibri"/>
                <a:ea typeface="Calibri"/>
                <a:cs typeface="Calibri"/>
                <a:sym typeface="Calibri"/>
              </a:rPr>
              <a:t>0</a:t>
            </a:r>
            <a:r>
              <a:rPr b="1" lang="en-US" sz="1000">
                <a:solidFill>
                  <a:srgbClr val="E50914"/>
                </a:solidFill>
                <a:latin typeface="Calibri"/>
                <a:ea typeface="Calibri"/>
                <a:cs typeface="Calibri"/>
                <a:sym typeface="Calibri"/>
              </a:rPr>
              <a:t>6</a:t>
            </a:r>
            <a:r>
              <a:rPr b="1" i="0" lang="en-US" sz="1000" u="none" cap="none" strike="noStrike">
                <a:solidFill>
                  <a:srgbClr val="E50914"/>
                </a:solidFill>
                <a:latin typeface="Calibri"/>
                <a:ea typeface="Calibri"/>
                <a:cs typeface="Calibri"/>
                <a:sym typeface="Calibri"/>
              </a:rPr>
              <a:t>  /  ANALISIS 3</a:t>
            </a:r>
            <a:endParaRPr b="0" i="0" sz="1000" u="none" cap="none" strike="noStrike">
              <a:solidFill>
                <a:schemeClr val="dk1"/>
              </a:solidFill>
              <a:latin typeface="Calibri"/>
              <a:ea typeface="Calibri"/>
              <a:cs typeface="Calibri"/>
              <a:sym typeface="Calibri"/>
            </a:endParaRPr>
          </a:p>
        </p:txBody>
      </p:sp>
      <p:sp>
        <p:nvSpPr>
          <p:cNvPr id="201" name="Google Shape;201;g3d9e4566dc7_1_20"/>
          <p:cNvSpPr/>
          <p:nvPr/>
        </p:nvSpPr>
        <p:spPr>
          <a:xfrm>
            <a:off x="457200" y="347472"/>
            <a:ext cx="8229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600"/>
              <a:buFont typeface="Arial Black"/>
              <a:buNone/>
            </a:pPr>
            <a:r>
              <a:rPr b="1" lang="en-US" sz="2600">
                <a:solidFill>
                  <a:srgbClr val="FFFFFF"/>
                </a:solidFill>
                <a:latin typeface="Arial Black"/>
                <a:ea typeface="Arial Black"/>
                <a:cs typeface="Arial Black"/>
                <a:sym typeface="Arial Black"/>
              </a:rPr>
              <a:t>Top </a:t>
            </a:r>
            <a:r>
              <a:rPr b="1" i="0" lang="en-US" sz="2600" u="none" cap="none" strike="noStrike">
                <a:solidFill>
                  <a:srgbClr val="FFFFFF"/>
                </a:solidFill>
                <a:latin typeface="Arial Black"/>
                <a:ea typeface="Arial Black"/>
                <a:cs typeface="Arial Black"/>
                <a:sym typeface="Arial Black"/>
              </a:rPr>
              <a:t>Genre </a:t>
            </a:r>
            <a:endParaRPr b="0" i="0" sz="2600" u="none" cap="none" strike="noStrike">
              <a:solidFill>
                <a:schemeClr val="dk1"/>
              </a:solidFill>
              <a:latin typeface="Calibri"/>
              <a:ea typeface="Calibri"/>
              <a:cs typeface="Calibri"/>
              <a:sym typeface="Calibri"/>
            </a:endParaRPr>
          </a:p>
        </p:txBody>
      </p:sp>
      <p:sp>
        <p:nvSpPr>
          <p:cNvPr id="202" name="Google Shape;202;g3d9e4566dc7_1_20"/>
          <p:cNvSpPr/>
          <p:nvPr/>
        </p:nvSpPr>
        <p:spPr>
          <a:xfrm>
            <a:off x="274325" y="4092000"/>
            <a:ext cx="8412600" cy="892500"/>
          </a:xfrm>
          <a:prstGeom prst="rect">
            <a:avLst/>
          </a:prstGeom>
          <a:solidFill>
            <a:srgbClr val="F5F5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g3d9e4566dc7_1_20"/>
          <p:cNvSpPr/>
          <p:nvPr/>
        </p:nvSpPr>
        <p:spPr>
          <a:xfrm>
            <a:off x="274325" y="4092000"/>
            <a:ext cx="55800" cy="892500"/>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g3d9e4566dc7_1_20"/>
          <p:cNvSpPr/>
          <p:nvPr/>
        </p:nvSpPr>
        <p:spPr>
          <a:xfrm>
            <a:off x="366750" y="4148375"/>
            <a:ext cx="8229600" cy="782700"/>
          </a:xfrm>
          <a:prstGeom prst="rect">
            <a:avLst/>
          </a:prstGeom>
          <a:noFill/>
          <a:ln>
            <a:noFill/>
          </a:ln>
        </p:spPr>
        <p:txBody>
          <a:bodyPr anchorCtr="0" anchor="ctr" bIns="0" lIns="0" spcFirstLastPara="1" rIns="0" wrap="square" tIns="0">
            <a:noAutofit/>
          </a:bodyPr>
          <a:lstStyle/>
          <a:p>
            <a:pPr indent="0" lvl="0" marL="0" marR="0" rtl="0" algn="just">
              <a:spcBef>
                <a:spcPts val="0"/>
              </a:spcBef>
              <a:spcAft>
                <a:spcPts val="0"/>
              </a:spcAft>
              <a:buClr>
                <a:srgbClr val="333333"/>
              </a:buClr>
              <a:buSzPts val="1000"/>
              <a:buFont typeface="Calibri"/>
              <a:buNone/>
            </a:pPr>
            <a:r>
              <a:rPr b="1" lang="en-US" sz="1000">
                <a:solidFill>
                  <a:srgbClr val="333333"/>
                </a:solidFill>
                <a:latin typeface="Calibri"/>
                <a:ea typeface="Calibri"/>
                <a:cs typeface="Calibri"/>
                <a:sym typeface="Calibri"/>
              </a:rPr>
              <a:t>Drama</a:t>
            </a:r>
            <a:r>
              <a:rPr b="1" lang="en-US" sz="1000">
                <a:solidFill>
                  <a:srgbClr val="333333"/>
                </a:solidFill>
                <a:latin typeface="Calibri"/>
                <a:ea typeface="Calibri"/>
                <a:cs typeface="Calibri"/>
                <a:sym typeface="Calibri"/>
              </a:rPr>
              <a:t> mendominasi</a:t>
            </a:r>
            <a:r>
              <a:rPr lang="en-US" sz="1000">
                <a:solidFill>
                  <a:srgbClr val="333333"/>
                </a:solidFill>
                <a:latin typeface="Calibri"/>
                <a:ea typeface="Calibri"/>
                <a:cs typeface="Calibri"/>
                <a:sym typeface="Calibri"/>
              </a:rPr>
              <a:t> library Netflix dengan </a:t>
            </a:r>
            <a:r>
              <a:rPr b="1" lang="en-US" sz="1000">
                <a:solidFill>
                  <a:srgbClr val="333333"/>
                </a:solidFill>
                <a:latin typeface="Calibri"/>
                <a:ea typeface="Calibri"/>
                <a:cs typeface="Calibri"/>
                <a:sym typeface="Calibri"/>
              </a:rPr>
              <a:t>8.669</a:t>
            </a:r>
            <a:r>
              <a:rPr lang="en-US" sz="1000">
                <a:solidFill>
                  <a:srgbClr val="333333"/>
                </a:solidFill>
                <a:latin typeface="Calibri"/>
                <a:ea typeface="Calibri"/>
                <a:cs typeface="Calibri"/>
                <a:sym typeface="Calibri"/>
              </a:rPr>
              <a:t> konten, hampir dua kali lipat </a:t>
            </a:r>
            <a:r>
              <a:rPr b="1" lang="en-US" sz="1000">
                <a:solidFill>
                  <a:srgbClr val="333333"/>
                </a:solidFill>
                <a:latin typeface="Calibri"/>
                <a:ea typeface="Calibri"/>
                <a:cs typeface="Calibri"/>
                <a:sym typeface="Calibri"/>
              </a:rPr>
              <a:t>Comedy</a:t>
            </a:r>
            <a:r>
              <a:rPr lang="en-US" sz="1000">
                <a:solidFill>
                  <a:srgbClr val="333333"/>
                </a:solidFill>
                <a:latin typeface="Calibri"/>
                <a:ea typeface="Calibri"/>
                <a:cs typeface="Calibri"/>
                <a:sym typeface="Calibri"/>
              </a:rPr>
              <a:t> (</a:t>
            </a:r>
            <a:r>
              <a:rPr b="1" lang="en-US" sz="1000">
                <a:solidFill>
                  <a:srgbClr val="333333"/>
                </a:solidFill>
                <a:latin typeface="Calibri"/>
                <a:ea typeface="Calibri"/>
                <a:cs typeface="Calibri"/>
                <a:sym typeface="Calibri"/>
              </a:rPr>
              <a:t>4.678</a:t>
            </a:r>
            <a:r>
              <a:rPr lang="en-US" sz="1000">
                <a:solidFill>
                  <a:srgbClr val="333333"/>
                </a:solidFill>
                <a:latin typeface="Calibri"/>
                <a:ea typeface="Calibri"/>
                <a:cs typeface="Calibri"/>
                <a:sym typeface="Calibri"/>
              </a:rPr>
              <a:t>) di posisi </a:t>
            </a:r>
            <a:r>
              <a:rPr b="1" lang="en-US" sz="1000">
                <a:solidFill>
                  <a:srgbClr val="333333"/>
                </a:solidFill>
                <a:latin typeface="Calibri"/>
                <a:ea typeface="Calibri"/>
                <a:cs typeface="Calibri"/>
                <a:sym typeface="Calibri"/>
              </a:rPr>
              <a:t>kedua</a:t>
            </a:r>
            <a:r>
              <a:rPr lang="en-US" sz="1000">
                <a:solidFill>
                  <a:srgbClr val="333333"/>
                </a:solidFill>
                <a:latin typeface="Calibri"/>
                <a:ea typeface="Calibri"/>
                <a:cs typeface="Calibri"/>
                <a:sym typeface="Calibri"/>
              </a:rPr>
              <a:t>. Meski Drama dan Comedy mendominasi dari sisi volume, data rating menunjukkan bahwa Documentary dan Crime justru lebih diapresiasi penonton, mengindikasikan peluang diferensiasi konten yang belum dimanfaatkan Netflix secara maksimal.</a:t>
            </a:r>
            <a:endParaRPr i="0" sz="1000" u="none" cap="none" strike="noStrike">
              <a:solidFill>
                <a:schemeClr val="dk1"/>
              </a:solidFill>
              <a:latin typeface="Calibri"/>
              <a:ea typeface="Calibri"/>
              <a:cs typeface="Calibri"/>
              <a:sym typeface="Calibri"/>
            </a:endParaRPr>
          </a:p>
        </p:txBody>
      </p:sp>
      <p:pic>
        <p:nvPicPr>
          <p:cNvPr id="205" name="Google Shape;205;g3d9e4566dc7_1_20"/>
          <p:cNvPicPr preferRelativeResize="0"/>
          <p:nvPr/>
        </p:nvPicPr>
        <p:blipFill>
          <a:blip r:embed="rId3">
            <a:alphaModFix/>
          </a:blip>
          <a:stretch>
            <a:fillRect/>
          </a:stretch>
        </p:blipFill>
        <p:spPr>
          <a:xfrm>
            <a:off x="330125" y="1232088"/>
            <a:ext cx="6604883" cy="27357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 name="Shape 210"/>
        <p:cNvGrpSpPr/>
        <p:nvPr/>
      </p:nvGrpSpPr>
      <p:grpSpPr>
        <a:xfrm>
          <a:off x="0" y="0"/>
          <a:ext cx="0" cy="0"/>
          <a:chOff x="0" y="0"/>
          <a:chExt cx="0" cy="0"/>
        </a:xfrm>
      </p:grpSpPr>
      <p:sp>
        <p:nvSpPr>
          <p:cNvPr id="211" name="Google Shape;211;p6"/>
          <p:cNvSpPr/>
          <p:nvPr/>
        </p:nvSpPr>
        <p:spPr>
          <a:xfrm>
            <a:off x="0" y="0"/>
            <a:ext cx="9144000" cy="1051560"/>
          </a:xfrm>
          <a:prstGeom prst="rect">
            <a:avLst/>
          </a:prstGeom>
          <a:solidFill>
            <a:srgbClr val="1414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6"/>
          <p:cNvSpPr/>
          <p:nvPr/>
        </p:nvSpPr>
        <p:spPr>
          <a:xfrm>
            <a:off x="457200" y="73152"/>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000"/>
              <a:buFont typeface="Calibri"/>
              <a:buNone/>
            </a:pPr>
            <a:r>
              <a:rPr b="1" i="0" lang="en-US" sz="1000" u="none" cap="none" strike="noStrike">
                <a:solidFill>
                  <a:srgbClr val="E50914"/>
                </a:solidFill>
                <a:latin typeface="Calibri"/>
                <a:ea typeface="Calibri"/>
                <a:cs typeface="Calibri"/>
                <a:sym typeface="Calibri"/>
              </a:rPr>
              <a:t>0</a:t>
            </a:r>
            <a:r>
              <a:rPr b="1" lang="en-US" sz="1000">
                <a:solidFill>
                  <a:srgbClr val="E50914"/>
                </a:solidFill>
                <a:latin typeface="Calibri"/>
                <a:ea typeface="Calibri"/>
                <a:cs typeface="Calibri"/>
                <a:sym typeface="Calibri"/>
              </a:rPr>
              <a:t>7</a:t>
            </a:r>
            <a:r>
              <a:rPr b="1" i="0" lang="en-US" sz="1000" u="none" cap="none" strike="noStrike">
                <a:solidFill>
                  <a:srgbClr val="E50914"/>
                </a:solidFill>
                <a:latin typeface="Calibri"/>
                <a:ea typeface="Calibri"/>
                <a:cs typeface="Calibri"/>
                <a:sym typeface="Calibri"/>
              </a:rPr>
              <a:t>  /  ANALISIS  4</a:t>
            </a:r>
            <a:endParaRPr b="0" i="0" sz="1000" u="none" cap="none" strike="noStrike">
              <a:solidFill>
                <a:schemeClr val="dk1"/>
              </a:solidFill>
              <a:latin typeface="Calibri"/>
              <a:ea typeface="Calibri"/>
              <a:cs typeface="Calibri"/>
              <a:sym typeface="Calibri"/>
            </a:endParaRPr>
          </a:p>
        </p:txBody>
      </p:sp>
      <p:sp>
        <p:nvSpPr>
          <p:cNvPr id="213" name="Google Shape;213;p6"/>
          <p:cNvSpPr/>
          <p:nvPr/>
        </p:nvSpPr>
        <p:spPr>
          <a:xfrm>
            <a:off x="457200" y="347472"/>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600"/>
              <a:buFont typeface="Arial Black"/>
              <a:buNone/>
            </a:pPr>
            <a:r>
              <a:rPr b="1" lang="en-US" sz="2600">
                <a:solidFill>
                  <a:srgbClr val="FFFFFF"/>
                </a:solidFill>
                <a:latin typeface="Arial Black"/>
                <a:ea typeface="Arial Black"/>
                <a:cs typeface="Arial Black"/>
                <a:sym typeface="Arial Black"/>
              </a:rPr>
              <a:t>Top </a:t>
            </a:r>
            <a:r>
              <a:rPr b="1" i="0" lang="en-US" sz="2600" u="none" cap="none" strike="noStrike">
                <a:solidFill>
                  <a:srgbClr val="FFFFFF"/>
                </a:solidFill>
                <a:latin typeface="Arial Black"/>
                <a:ea typeface="Arial Black"/>
                <a:cs typeface="Arial Black"/>
                <a:sym typeface="Arial Black"/>
              </a:rPr>
              <a:t>Negara Penghasil Konten</a:t>
            </a:r>
            <a:endParaRPr b="0" i="0" sz="2600" u="none" cap="none" strike="noStrike">
              <a:solidFill>
                <a:schemeClr val="dk1"/>
              </a:solidFill>
              <a:latin typeface="Calibri"/>
              <a:ea typeface="Calibri"/>
              <a:cs typeface="Calibri"/>
              <a:sym typeface="Calibri"/>
            </a:endParaRPr>
          </a:p>
        </p:txBody>
      </p:sp>
      <p:sp>
        <p:nvSpPr>
          <p:cNvPr id="214" name="Google Shape;214;p6"/>
          <p:cNvSpPr/>
          <p:nvPr/>
        </p:nvSpPr>
        <p:spPr>
          <a:xfrm>
            <a:off x="274325" y="4224525"/>
            <a:ext cx="8622300" cy="691500"/>
          </a:xfrm>
          <a:prstGeom prst="rect">
            <a:avLst/>
          </a:prstGeom>
          <a:solidFill>
            <a:srgbClr val="F5F5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6"/>
          <p:cNvSpPr/>
          <p:nvPr/>
        </p:nvSpPr>
        <p:spPr>
          <a:xfrm>
            <a:off x="274325" y="4224525"/>
            <a:ext cx="54900" cy="691500"/>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6"/>
          <p:cNvSpPr/>
          <p:nvPr/>
        </p:nvSpPr>
        <p:spPr>
          <a:xfrm>
            <a:off x="355750" y="4263500"/>
            <a:ext cx="8516400" cy="61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33333"/>
              </a:buClr>
              <a:buSzPts val="1000"/>
              <a:buFont typeface="Calibri"/>
              <a:buNone/>
            </a:pPr>
            <a:r>
              <a:rPr b="1" i="0" lang="en-US" sz="1000" u="none" cap="none" strike="noStrike">
                <a:solidFill>
                  <a:srgbClr val="333333"/>
                </a:solidFill>
                <a:latin typeface="Calibri"/>
                <a:ea typeface="Calibri"/>
                <a:cs typeface="Calibri"/>
                <a:sym typeface="Calibri"/>
              </a:rPr>
              <a:t>Amerika Serikat</a:t>
            </a:r>
            <a:r>
              <a:rPr b="0" i="0" lang="en-US" sz="1000" u="none" cap="none" strike="noStrike">
                <a:solidFill>
                  <a:srgbClr val="333333"/>
                </a:solidFill>
                <a:latin typeface="Calibri"/>
                <a:ea typeface="Calibri"/>
                <a:cs typeface="Calibri"/>
                <a:sym typeface="Calibri"/>
              </a:rPr>
              <a:t> </a:t>
            </a:r>
            <a:r>
              <a:rPr b="1" i="0" lang="en-US" sz="1000" u="none" cap="none" strike="noStrike">
                <a:solidFill>
                  <a:srgbClr val="333333"/>
                </a:solidFill>
                <a:latin typeface="Calibri"/>
                <a:ea typeface="Calibri"/>
                <a:cs typeface="Calibri"/>
                <a:sym typeface="Calibri"/>
              </a:rPr>
              <a:t>mendominasi</a:t>
            </a:r>
            <a:r>
              <a:rPr b="0" i="0" lang="en-US" sz="1000" u="none" cap="none" strike="noStrike">
                <a:solidFill>
                  <a:srgbClr val="333333"/>
                </a:solidFill>
                <a:latin typeface="Calibri"/>
                <a:ea typeface="Calibri"/>
                <a:cs typeface="Calibri"/>
                <a:sym typeface="Calibri"/>
              </a:rPr>
              <a:t> produksi konten Netflix dengan </a:t>
            </a:r>
            <a:r>
              <a:rPr b="1" i="0" lang="en-US" sz="1000" u="none" cap="none" strike="noStrike">
                <a:solidFill>
                  <a:srgbClr val="333333"/>
                </a:solidFill>
                <a:latin typeface="Calibri"/>
                <a:ea typeface="Calibri"/>
                <a:cs typeface="Calibri"/>
                <a:sym typeface="Calibri"/>
              </a:rPr>
              <a:t>8.181</a:t>
            </a:r>
            <a:r>
              <a:rPr b="0" i="0" lang="en-US" sz="1000" u="none" cap="none" strike="noStrike">
                <a:solidFill>
                  <a:srgbClr val="333333"/>
                </a:solidFill>
                <a:latin typeface="Calibri"/>
                <a:ea typeface="Calibri"/>
                <a:cs typeface="Calibri"/>
                <a:sym typeface="Calibri"/>
              </a:rPr>
              <a:t> konten</a:t>
            </a:r>
            <a:r>
              <a:rPr lang="en-US" sz="1000">
                <a:solidFill>
                  <a:srgbClr val="333333"/>
                </a:solidFill>
                <a:latin typeface="Calibri"/>
                <a:ea typeface="Calibri"/>
                <a:cs typeface="Calibri"/>
                <a:sym typeface="Calibri"/>
              </a:rPr>
              <a:t>, </a:t>
            </a:r>
            <a:r>
              <a:rPr b="0" i="0" lang="en-US" sz="1000" u="none" cap="none" strike="noStrike">
                <a:solidFill>
                  <a:srgbClr val="333333"/>
                </a:solidFill>
                <a:latin typeface="Calibri"/>
                <a:ea typeface="Calibri"/>
                <a:cs typeface="Calibri"/>
                <a:sym typeface="Calibri"/>
              </a:rPr>
              <a:t>hampir </a:t>
            </a:r>
            <a:r>
              <a:rPr b="1" i="0" lang="en-US" sz="1000" u="none" cap="none" strike="noStrike">
                <a:solidFill>
                  <a:srgbClr val="333333"/>
                </a:solidFill>
                <a:latin typeface="Calibri"/>
                <a:ea typeface="Calibri"/>
                <a:cs typeface="Calibri"/>
                <a:sym typeface="Calibri"/>
              </a:rPr>
              <a:t>tiga kali lipat</a:t>
            </a:r>
            <a:r>
              <a:rPr b="0" i="0" lang="en-US" sz="1000" u="none" cap="none" strike="noStrike">
                <a:solidFill>
                  <a:srgbClr val="333333"/>
                </a:solidFill>
                <a:latin typeface="Calibri"/>
                <a:ea typeface="Calibri"/>
                <a:cs typeface="Calibri"/>
                <a:sym typeface="Calibri"/>
              </a:rPr>
              <a:t> negara kedua yaitu </a:t>
            </a:r>
            <a:r>
              <a:rPr b="1" i="0" lang="en-US" sz="1000" u="none" cap="none" strike="noStrike">
                <a:solidFill>
                  <a:srgbClr val="333333"/>
                </a:solidFill>
                <a:latin typeface="Calibri"/>
                <a:ea typeface="Calibri"/>
                <a:cs typeface="Calibri"/>
                <a:sym typeface="Calibri"/>
              </a:rPr>
              <a:t>Jepang</a:t>
            </a:r>
            <a:r>
              <a:rPr b="0" i="0" lang="en-US" sz="1000" u="none" cap="none" strike="noStrike">
                <a:solidFill>
                  <a:srgbClr val="333333"/>
                </a:solidFill>
                <a:latin typeface="Calibri"/>
                <a:ea typeface="Calibri"/>
                <a:cs typeface="Calibri"/>
                <a:sym typeface="Calibri"/>
              </a:rPr>
              <a:t> (</a:t>
            </a:r>
            <a:r>
              <a:rPr b="1" i="0" lang="en-US" sz="1000" u="none" cap="none" strike="noStrike">
                <a:solidFill>
                  <a:srgbClr val="333333"/>
                </a:solidFill>
                <a:latin typeface="Calibri"/>
                <a:ea typeface="Calibri"/>
                <a:cs typeface="Calibri"/>
                <a:sym typeface="Calibri"/>
              </a:rPr>
              <a:t>2.761</a:t>
            </a:r>
            <a:r>
              <a:rPr b="0" i="0" lang="en-US" sz="1000" u="none" cap="none" strike="noStrike">
                <a:solidFill>
                  <a:srgbClr val="333333"/>
                </a:solidFill>
                <a:latin typeface="Calibri"/>
                <a:ea typeface="Calibri"/>
                <a:cs typeface="Calibri"/>
                <a:sym typeface="Calibri"/>
              </a:rPr>
              <a:t>). Yang menarik, </a:t>
            </a:r>
            <a:r>
              <a:rPr b="1" i="0" lang="en-US" sz="1000" u="none" cap="none" strike="noStrike">
                <a:solidFill>
                  <a:srgbClr val="333333"/>
                </a:solidFill>
                <a:latin typeface="Calibri"/>
                <a:ea typeface="Calibri"/>
                <a:cs typeface="Calibri"/>
                <a:sym typeface="Calibri"/>
              </a:rPr>
              <a:t>tiga dari empat negara penghasil konten terbesar setelah Amerika Serikat adalah negara Asia</a:t>
            </a:r>
            <a:r>
              <a:rPr b="0" i="0" lang="en-US" sz="1000" u="none" cap="none" strike="noStrike">
                <a:solidFill>
                  <a:srgbClr val="333333"/>
                </a:solidFill>
                <a:latin typeface="Calibri"/>
                <a:ea typeface="Calibri"/>
                <a:cs typeface="Calibri"/>
                <a:sym typeface="Calibri"/>
              </a:rPr>
              <a:t> (Jepang, China, Korea Selatan) dengan total gabungan </a:t>
            </a:r>
            <a:r>
              <a:rPr b="1" i="0" lang="en-US" sz="1000" u="none" cap="none" strike="noStrike">
                <a:solidFill>
                  <a:srgbClr val="333333"/>
                </a:solidFill>
                <a:latin typeface="Calibri"/>
                <a:ea typeface="Calibri"/>
                <a:cs typeface="Calibri"/>
                <a:sym typeface="Calibri"/>
              </a:rPr>
              <a:t>7.114</a:t>
            </a:r>
            <a:r>
              <a:rPr b="0" i="0" lang="en-US" sz="1000" u="none" cap="none" strike="noStrike">
                <a:solidFill>
                  <a:srgbClr val="333333"/>
                </a:solidFill>
                <a:latin typeface="Calibri"/>
                <a:ea typeface="Calibri"/>
                <a:cs typeface="Calibri"/>
                <a:sym typeface="Calibri"/>
              </a:rPr>
              <a:t> konten</a:t>
            </a:r>
            <a:r>
              <a:rPr lang="en-US" sz="1000">
                <a:solidFill>
                  <a:srgbClr val="333333"/>
                </a:solidFill>
                <a:latin typeface="Calibri"/>
                <a:ea typeface="Calibri"/>
                <a:cs typeface="Calibri"/>
                <a:sym typeface="Calibri"/>
              </a:rPr>
              <a:t>, </a:t>
            </a:r>
            <a:r>
              <a:rPr b="0" i="0" lang="en-US" sz="1000" u="none" cap="none" strike="noStrike">
                <a:solidFill>
                  <a:srgbClr val="333333"/>
                </a:solidFill>
                <a:latin typeface="Calibri"/>
                <a:ea typeface="Calibri"/>
                <a:cs typeface="Calibri"/>
                <a:sym typeface="Calibri"/>
              </a:rPr>
              <a:t>mengindikasikan bahwa strategi konten lokal Netflix di Asia mulai menunjukkan hasil yang signifikan dan berpotensi menjadi kekuatan utama pertumbuhan subscriber global ke depannya.</a:t>
            </a:r>
            <a:endParaRPr b="0" i="0" sz="1000" u="none" cap="none" strike="noStrike">
              <a:solidFill>
                <a:schemeClr val="dk1"/>
              </a:solidFill>
              <a:latin typeface="Calibri"/>
              <a:ea typeface="Calibri"/>
              <a:cs typeface="Calibri"/>
              <a:sym typeface="Calibri"/>
            </a:endParaRPr>
          </a:p>
        </p:txBody>
      </p:sp>
      <p:pic>
        <p:nvPicPr>
          <p:cNvPr id="217" name="Google Shape;217;p6"/>
          <p:cNvPicPr preferRelativeResize="0"/>
          <p:nvPr/>
        </p:nvPicPr>
        <p:blipFill>
          <a:blip r:embed="rId3">
            <a:alphaModFix/>
          </a:blip>
          <a:stretch>
            <a:fillRect/>
          </a:stretch>
        </p:blipFill>
        <p:spPr>
          <a:xfrm>
            <a:off x="329175" y="1203950"/>
            <a:ext cx="8567449" cy="28681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7"/>
          <p:cNvSpPr/>
          <p:nvPr/>
        </p:nvSpPr>
        <p:spPr>
          <a:xfrm>
            <a:off x="0" y="0"/>
            <a:ext cx="9144000" cy="1051560"/>
          </a:xfrm>
          <a:prstGeom prst="rect">
            <a:avLst/>
          </a:prstGeom>
          <a:solidFill>
            <a:srgbClr val="1414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7"/>
          <p:cNvSpPr/>
          <p:nvPr/>
        </p:nvSpPr>
        <p:spPr>
          <a:xfrm>
            <a:off x="457200" y="73152"/>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000"/>
              <a:buFont typeface="Calibri"/>
              <a:buNone/>
            </a:pPr>
            <a:r>
              <a:rPr b="1" i="0" lang="en-US" sz="1000" u="none" cap="none" strike="noStrike">
                <a:solidFill>
                  <a:srgbClr val="E50914"/>
                </a:solidFill>
                <a:latin typeface="Calibri"/>
                <a:ea typeface="Calibri"/>
                <a:cs typeface="Calibri"/>
                <a:sym typeface="Calibri"/>
              </a:rPr>
              <a:t>0</a:t>
            </a:r>
            <a:r>
              <a:rPr b="1" lang="en-US" sz="1000">
                <a:solidFill>
                  <a:srgbClr val="E50914"/>
                </a:solidFill>
                <a:latin typeface="Calibri"/>
                <a:ea typeface="Calibri"/>
                <a:cs typeface="Calibri"/>
                <a:sym typeface="Calibri"/>
              </a:rPr>
              <a:t>8 </a:t>
            </a:r>
            <a:r>
              <a:rPr b="1" i="0" lang="en-US" sz="1000" u="none" cap="none" strike="noStrike">
                <a:solidFill>
                  <a:srgbClr val="E50914"/>
                </a:solidFill>
                <a:latin typeface="Calibri"/>
                <a:ea typeface="Calibri"/>
                <a:cs typeface="Calibri"/>
                <a:sym typeface="Calibri"/>
              </a:rPr>
              <a:t>/  ANALISIS 5</a:t>
            </a:r>
            <a:endParaRPr b="0" i="0" sz="1000" u="none" cap="none" strike="noStrike">
              <a:solidFill>
                <a:schemeClr val="dk1"/>
              </a:solidFill>
              <a:latin typeface="Calibri"/>
              <a:ea typeface="Calibri"/>
              <a:cs typeface="Calibri"/>
              <a:sym typeface="Calibri"/>
            </a:endParaRPr>
          </a:p>
        </p:txBody>
      </p:sp>
      <p:sp>
        <p:nvSpPr>
          <p:cNvPr id="225" name="Google Shape;225;p7"/>
          <p:cNvSpPr/>
          <p:nvPr/>
        </p:nvSpPr>
        <p:spPr>
          <a:xfrm>
            <a:off x="457200" y="347472"/>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600"/>
              <a:buFont typeface="Arial Black"/>
              <a:buNone/>
            </a:pPr>
            <a:r>
              <a:rPr b="1" i="0" lang="en-US" sz="2600" u="none" cap="none" strike="noStrike">
                <a:solidFill>
                  <a:srgbClr val="FFFFFF"/>
                </a:solidFill>
                <a:latin typeface="Arial Black"/>
                <a:ea typeface="Arial Black"/>
                <a:cs typeface="Arial Black"/>
                <a:sym typeface="Arial Black"/>
              </a:rPr>
              <a:t>Genre Gap: Volume vs Kualitas</a:t>
            </a:r>
            <a:endParaRPr b="0" i="0" sz="2600" u="none" cap="none" strike="noStrike">
              <a:solidFill>
                <a:schemeClr val="dk1"/>
              </a:solidFill>
              <a:latin typeface="Calibri"/>
              <a:ea typeface="Calibri"/>
              <a:cs typeface="Calibri"/>
              <a:sym typeface="Calibri"/>
            </a:endParaRPr>
          </a:p>
        </p:txBody>
      </p:sp>
      <p:sp>
        <p:nvSpPr>
          <p:cNvPr id="226" name="Google Shape;226;p7"/>
          <p:cNvSpPr/>
          <p:nvPr/>
        </p:nvSpPr>
        <p:spPr>
          <a:xfrm>
            <a:off x="365760" y="1207008"/>
            <a:ext cx="4160520" cy="1627632"/>
          </a:xfrm>
          <a:prstGeom prst="rect">
            <a:avLst/>
          </a:prstGeom>
          <a:solidFill>
            <a:srgbClr val="E8F5E9"/>
          </a:solidFill>
          <a:ln cap="flat" cmpd="sng" w="12700">
            <a:solidFill>
              <a:srgbClr val="2E7D32"/>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7"/>
          <p:cNvSpPr/>
          <p:nvPr/>
        </p:nvSpPr>
        <p:spPr>
          <a:xfrm>
            <a:off x="365760" y="1207008"/>
            <a:ext cx="64008" cy="1627632"/>
          </a:xfrm>
          <a:prstGeom prst="rect">
            <a:avLst/>
          </a:prstGeom>
          <a:solidFill>
            <a:srgbClr val="2E7D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7"/>
          <p:cNvSpPr/>
          <p:nvPr/>
        </p:nvSpPr>
        <p:spPr>
          <a:xfrm>
            <a:off x="548640" y="1298448"/>
            <a:ext cx="384048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7D32"/>
              </a:buClr>
              <a:buSzPts val="1300"/>
              <a:buFont typeface="Arial Black"/>
              <a:buNone/>
            </a:pPr>
            <a:r>
              <a:rPr b="1" i="0" lang="en-US" sz="1300" u="none" cap="none" strike="noStrike">
                <a:solidFill>
                  <a:srgbClr val="2E7D32"/>
                </a:solidFill>
                <a:latin typeface="Arial Black"/>
                <a:ea typeface="Arial Black"/>
                <a:cs typeface="Arial Black"/>
                <a:sym typeface="Arial Black"/>
              </a:rPr>
              <a:t>⭐  STAR (TOP </a:t>
            </a:r>
            <a:r>
              <a:rPr b="1" lang="en-US" sz="1300">
                <a:solidFill>
                  <a:srgbClr val="2E7D32"/>
                </a:solidFill>
                <a:latin typeface="Arial Black"/>
                <a:ea typeface="Arial Black"/>
                <a:cs typeface="Arial Black"/>
                <a:sym typeface="Arial Black"/>
              </a:rPr>
              <a:t>CONTENT</a:t>
            </a:r>
            <a:r>
              <a:rPr b="1" i="0" lang="en-US" sz="1300" u="none" cap="none" strike="noStrike">
                <a:solidFill>
                  <a:srgbClr val="2E7D32"/>
                </a:solidFill>
                <a:latin typeface="Arial Black"/>
                <a:ea typeface="Arial Black"/>
                <a:cs typeface="Arial Black"/>
                <a:sym typeface="Arial Black"/>
              </a:rPr>
              <a:t>)</a:t>
            </a:r>
            <a:endParaRPr b="0" i="0" sz="1300" u="none" cap="none" strike="noStrike">
              <a:solidFill>
                <a:schemeClr val="dk1"/>
              </a:solidFill>
              <a:latin typeface="Calibri"/>
              <a:ea typeface="Calibri"/>
              <a:cs typeface="Calibri"/>
              <a:sym typeface="Calibri"/>
            </a:endParaRPr>
          </a:p>
        </p:txBody>
      </p:sp>
      <p:sp>
        <p:nvSpPr>
          <p:cNvPr id="229" name="Google Shape;229;p7"/>
          <p:cNvSpPr/>
          <p:nvPr/>
        </p:nvSpPr>
        <p:spPr>
          <a:xfrm>
            <a:off x="548640" y="1719072"/>
            <a:ext cx="38404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1000"/>
              <a:buFont typeface="Calibri"/>
              <a:buNone/>
            </a:pPr>
            <a:r>
              <a:rPr b="0" i="1" lang="en-US" sz="1000" u="none" cap="none" strike="noStrike">
                <a:solidFill>
                  <a:srgbClr val="555555"/>
                </a:solidFill>
                <a:latin typeface="Calibri"/>
                <a:ea typeface="Calibri"/>
                <a:cs typeface="Calibri"/>
                <a:sym typeface="Calibri"/>
              </a:rPr>
              <a:t>Volume Tinggi, Rating Tinggi</a:t>
            </a:r>
            <a:endParaRPr b="0" i="0" sz="1000" u="none" cap="none" strike="noStrike">
              <a:solidFill>
                <a:schemeClr val="dk1"/>
              </a:solidFill>
              <a:latin typeface="Calibri"/>
              <a:ea typeface="Calibri"/>
              <a:cs typeface="Calibri"/>
              <a:sym typeface="Calibri"/>
            </a:endParaRPr>
          </a:p>
        </p:txBody>
      </p:sp>
      <p:sp>
        <p:nvSpPr>
          <p:cNvPr id="230" name="Google Shape;230;p7"/>
          <p:cNvSpPr/>
          <p:nvPr/>
        </p:nvSpPr>
        <p:spPr>
          <a:xfrm>
            <a:off x="548640" y="2066544"/>
            <a:ext cx="3749040" cy="36576"/>
          </a:xfrm>
          <a:prstGeom prst="rect">
            <a:avLst/>
          </a:prstGeom>
          <a:solidFill>
            <a:srgbClr val="2E7D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7"/>
          <p:cNvSpPr/>
          <p:nvPr/>
        </p:nvSpPr>
        <p:spPr>
          <a:xfrm>
            <a:off x="548640" y="2176272"/>
            <a:ext cx="685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900"/>
              <a:buFont typeface="Calibri"/>
              <a:buNone/>
            </a:pPr>
            <a:r>
              <a:rPr b="1" i="0" lang="en-US" sz="900" u="none" cap="none" strike="noStrike">
                <a:solidFill>
                  <a:srgbClr val="555555"/>
                </a:solidFill>
                <a:latin typeface="Calibri"/>
                <a:ea typeface="Calibri"/>
                <a:cs typeface="Calibri"/>
                <a:sym typeface="Calibri"/>
              </a:rPr>
              <a:t>Genre: </a:t>
            </a:r>
            <a:endParaRPr b="0" i="0" sz="900" u="none" cap="none" strike="noStrike">
              <a:solidFill>
                <a:schemeClr val="dk1"/>
              </a:solidFill>
              <a:latin typeface="Calibri"/>
              <a:ea typeface="Calibri"/>
              <a:cs typeface="Calibri"/>
              <a:sym typeface="Calibri"/>
            </a:endParaRPr>
          </a:p>
        </p:txBody>
      </p:sp>
      <p:sp>
        <p:nvSpPr>
          <p:cNvPr id="232" name="Google Shape;232;p7"/>
          <p:cNvSpPr/>
          <p:nvPr/>
        </p:nvSpPr>
        <p:spPr>
          <a:xfrm>
            <a:off x="1188720" y="2176272"/>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7D32"/>
              </a:buClr>
              <a:buSzPts val="900"/>
              <a:buFont typeface="Calibri"/>
              <a:buNone/>
            </a:pPr>
            <a:r>
              <a:rPr b="1" lang="en-US" sz="900">
                <a:solidFill>
                  <a:srgbClr val="2E7D32"/>
                </a:solidFill>
                <a:latin typeface="Calibri"/>
                <a:ea typeface="Calibri"/>
                <a:cs typeface="Calibri"/>
                <a:sym typeface="Calibri"/>
              </a:rPr>
              <a:t>Animation</a:t>
            </a:r>
            <a:r>
              <a:rPr b="1" i="0" lang="en-US" sz="900" u="none" cap="none" strike="noStrike">
                <a:solidFill>
                  <a:srgbClr val="2E7D32"/>
                </a:solidFill>
                <a:latin typeface="Calibri"/>
                <a:ea typeface="Calibri"/>
                <a:cs typeface="Calibri"/>
                <a:sym typeface="Calibri"/>
              </a:rPr>
              <a:t> ·  </a:t>
            </a:r>
            <a:r>
              <a:rPr b="1" lang="en-US" sz="900">
                <a:solidFill>
                  <a:srgbClr val="2E7D32"/>
                </a:solidFill>
                <a:latin typeface="Calibri"/>
                <a:ea typeface="Calibri"/>
                <a:cs typeface="Calibri"/>
                <a:sym typeface="Calibri"/>
              </a:rPr>
              <a:t>Action · Comedy</a:t>
            </a:r>
            <a:endParaRPr b="0" i="0" sz="900" u="none" cap="none" strike="noStrike">
              <a:solidFill>
                <a:schemeClr val="dk1"/>
              </a:solidFill>
              <a:latin typeface="Calibri"/>
              <a:ea typeface="Calibri"/>
              <a:cs typeface="Calibri"/>
              <a:sym typeface="Calibri"/>
            </a:endParaRPr>
          </a:p>
        </p:txBody>
      </p:sp>
      <p:sp>
        <p:nvSpPr>
          <p:cNvPr id="233" name="Google Shape;233;p7"/>
          <p:cNvSpPr/>
          <p:nvPr/>
        </p:nvSpPr>
        <p:spPr>
          <a:xfrm>
            <a:off x="4800600" y="1207008"/>
            <a:ext cx="4160520" cy="1627632"/>
          </a:xfrm>
          <a:prstGeom prst="rect">
            <a:avLst/>
          </a:prstGeom>
          <a:solidFill>
            <a:srgbClr val="FFEBEE"/>
          </a:solidFill>
          <a:ln cap="flat" cmpd="sng" w="12700">
            <a:solidFill>
              <a:srgbClr val="B71C1C"/>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7"/>
          <p:cNvSpPr/>
          <p:nvPr/>
        </p:nvSpPr>
        <p:spPr>
          <a:xfrm>
            <a:off x="4800600" y="1207008"/>
            <a:ext cx="64008" cy="1627632"/>
          </a:xfrm>
          <a:prstGeom prst="rect">
            <a:avLst/>
          </a:prstGeom>
          <a:solidFill>
            <a:srgbClr val="B71C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7"/>
          <p:cNvSpPr/>
          <p:nvPr/>
        </p:nvSpPr>
        <p:spPr>
          <a:xfrm>
            <a:off x="4983480" y="1298448"/>
            <a:ext cx="384048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71C1C"/>
              </a:buClr>
              <a:buSzPts val="1300"/>
              <a:buFont typeface="Arial Black"/>
              <a:buNone/>
            </a:pPr>
            <a:r>
              <a:rPr b="1" i="0" lang="en-US" sz="1300" u="none" cap="none" strike="noStrike">
                <a:solidFill>
                  <a:srgbClr val="B71C1C"/>
                </a:solidFill>
                <a:latin typeface="Arial Black"/>
                <a:ea typeface="Arial Black"/>
                <a:cs typeface="Arial Black"/>
                <a:sym typeface="Arial Black"/>
              </a:rPr>
              <a:t>⚠️  OVERPRODUCED</a:t>
            </a:r>
            <a:endParaRPr b="0" i="0" sz="1300" u="none" cap="none" strike="noStrike">
              <a:solidFill>
                <a:schemeClr val="dk1"/>
              </a:solidFill>
              <a:latin typeface="Calibri"/>
              <a:ea typeface="Calibri"/>
              <a:cs typeface="Calibri"/>
              <a:sym typeface="Calibri"/>
            </a:endParaRPr>
          </a:p>
        </p:txBody>
      </p:sp>
      <p:sp>
        <p:nvSpPr>
          <p:cNvPr id="236" name="Google Shape;236;p7"/>
          <p:cNvSpPr/>
          <p:nvPr/>
        </p:nvSpPr>
        <p:spPr>
          <a:xfrm>
            <a:off x="4983480" y="1719072"/>
            <a:ext cx="38404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1000"/>
              <a:buFont typeface="Calibri"/>
              <a:buNone/>
            </a:pPr>
            <a:r>
              <a:rPr b="0" i="1" lang="en-US" sz="1000" u="none" cap="none" strike="noStrike">
                <a:solidFill>
                  <a:srgbClr val="555555"/>
                </a:solidFill>
                <a:latin typeface="Calibri"/>
                <a:ea typeface="Calibri"/>
                <a:cs typeface="Calibri"/>
                <a:sym typeface="Calibri"/>
              </a:rPr>
              <a:t>Volume Tinggi, Rating Rendah</a:t>
            </a:r>
            <a:endParaRPr b="0" i="0" sz="1000" u="none" cap="none" strike="noStrike">
              <a:solidFill>
                <a:schemeClr val="dk1"/>
              </a:solidFill>
              <a:latin typeface="Calibri"/>
              <a:ea typeface="Calibri"/>
              <a:cs typeface="Calibri"/>
              <a:sym typeface="Calibri"/>
            </a:endParaRPr>
          </a:p>
        </p:txBody>
      </p:sp>
      <p:sp>
        <p:nvSpPr>
          <p:cNvPr id="237" name="Google Shape;237;p7"/>
          <p:cNvSpPr/>
          <p:nvPr/>
        </p:nvSpPr>
        <p:spPr>
          <a:xfrm>
            <a:off x="4983480" y="2066544"/>
            <a:ext cx="3749040" cy="36576"/>
          </a:xfrm>
          <a:prstGeom prst="rect">
            <a:avLst/>
          </a:prstGeom>
          <a:solidFill>
            <a:srgbClr val="B71C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7"/>
          <p:cNvSpPr/>
          <p:nvPr/>
        </p:nvSpPr>
        <p:spPr>
          <a:xfrm>
            <a:off x="4983480" y="2176272"/>
            <a:ext cx="685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900"/>
              <a:buFont typeface="Calibri"/>
              <a:buNone/>
            </a:pPr>
            <a:r>
              <a:rPr b="1" i="0" lang="en-US" sz="900" u="none" cap="none" strike="noStrike">
                <a:solidFill>
                  <a:srgbClr val="555555"/>
                </a:solidFill>
                <a:latin typeface="Calibri"/>
                <a:ea typeface="Calibri"/>
                <a:cs typeface="Calibri"/>
                <a:sym typeface="Calibri"/>
              </a:rPr>
              <a:t>Genre: </a:t>
            </a:r>
            <a:endParaRPr b="0" i="0" sz="900" u="none" cap="none" strike="noStrike">
              <a:solidFill>
                <a:schemeClr val="dk1"/>
              </a:solidFill>
              <a:latin typeface="Calibri"/>
              <a:ea typeface="Calibri"/>
              <a:cs typeface="Calibri"/>
              <a:sym typeface="Calibri"/>
            </a:endParaRPr>
          </a:p>
        </p:txBody>
      </p:sp>
      <p:sp>
        <p:nvSpPr>
          <p:cNvPr id="239" name="Google Shape;239;p7"/>
          <p:cNvSpPr/>
          <p:nvPr/>
        </p:nvSpPr>
        <p:spPr>
          <a:xfrm>
            <a:off x="5623560" y="2176272"/>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71C1C"/>
              </a:buClr>
              <a:buSzPts val="900"/>
              <a:buFont typeface="Calibri"/>
              <a:buNone/>
            </a:pPr>
            <a:r>
              <a:rPr b="1" lang="en-US" sz="900">
                <a:solidFill>
                  <a:srgbClr val="B71C1C"/>
                </a:solidFill>
                <a:latin typeface="Calibri"/>
                <a:ea typeface="Calibri"/>
                <a:cs typeface="Calibri"/>
                <a:sym typeface="Calibri"/>
              </a:rPr>
              <a:t>Documentary </a:t>
            </a:r>
            <a:r>
              <a:rPr b="1" i="0" lang="en-US" sz="900" u="none" cap="none" strike="noStrike">
                <a:solidFill>
                  <a:srgbClr val="B71C1C"/>
                </a:solidFill>
                <a:latin typeface="Calibri"/>
                <a:ea typeface="Calibri"/>
                <a:cs typeface="Calibri"/>
                <a:sym typeface="Calibri"/>
              </a:rPr>
              <a:t> ·  </a:t>
            </a:r>
            <a:r>
              <a:rPr b="1" lang="en-US" sz="900">
                <a:solidFill>
                  <a:srgbClr val="B71C1C"/>
                </a:solidFill>
                <a:latin typeface="Calibri"/>
                <a:ea typeface="Calibri"/>
                <a:cs typeface="Calibri"/>
                <a:sym typeface="Calibri"/>
              </a:rPr>
              <a:t>Horror</a:t>
            </a:r>
            <a:r>
              <a:rPr b="1" i="0" lang="en-US" sz="900" u="none" cap="none" strike="noStrike">
                <a:solidFill>
                  <a:srgbClr val="B71C1C"/>
                </a:solidFill>
                <a:latin typeface="Calibri"/>
                <a:ea typeface="Calibri"/>
                <a:cs typeface="Calibri"/>
                <a:sym typeface="Calibri"/>
              </a:rPr>
              <a:t>  ·  </a:t>
            </a:r>
            <a:r>
              <a:rPr b="1" lang="en-US" sz="900">
                <a:solidFill>
                  <a:srgbClr val="B71C1C"/>
                </a:solidFill>
                <a:latin typeface="Calibri"/>
                <a:ea typeface="Calibri"/>
                <a:cs typeface="Calibri"/>
                <a:sym typeface="Calibri"/>
              </a:rPr>
              <a:t>Reality</a:t>
            </a:r>
            <a:endParaRPr b="0" i="0" sz="900" u="none" cap="none" strike="noStrike">
              <a:solidFill>
                <a:schemeClr val="dk1"/>
              </a:solidFill>
              <a:latin typeface="Calibri"/>
              <a:ea typeface="Calibri"/>
              <a:cs typeface="Calibri"/>
              <a:sym typeface="Calibri"/>
            </a:endParaRPr>
          </a:p>
        </p:txBody>
      </p:sp>
      <p:sp>
        <p:nvSpPr>
          <p:cNvPr id="240" name="Google Shape;240;p7"/>
          <p:cNvSpPr/>
          <p:nvPr/>
        </p:nvSpPr>
        <p:spPr>
          <a:xfrm>
            <a:off x="365760" y="3017520"/>
            <a:ext cx="4160520" cy="1627632"/>
          </a:xfrm>
          <a:prstGeom prst="rect">
            <a:avLst/>
          </a:prstGeom>
          <a:solidFill>
            <a:srgbClr val="E3F2FD"/>
          </a:solidFill>
          <a:ln cap="flat" cmpd="sng" w="12700">
            <a:solidFill>
              <a:srgbClr val="1565C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7"/>
          <p:cNvSpPr/>
          <p:nvPr/>
        </p:nvSpPr>
        <p:spPr>
          <a:xfrm>
            <a:off x="365760" y="3017520"/>
            <a:ext cx="64008" cy="1627632"/>
          </a:xfrm>
          <a:prstGeom prst="rect">
            <a:avLst/>
          </a:prstGeom>
          <a:solidFill>
            <a:srgbClr val="1565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7"/>
          <p:cNvSpPr/>
          <p:nvPr/>
        </p:nvSpPr>
        <p:spPr>
          <a:xfrm>
            <a:off x="548640" y="3108960"/>
            <a:ext cx="384048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565C0"/>
              </a:buClr>
              <a:buSzPts val="1300"/>
              <a:buFont typeface="Arial Black"/>
              <a:buNone/>
            </a:pPr>
            <a:r>
              <a:rPr b="1" i="0" lang="en-US" sz="1300" u="none" cap="none" strike="noStrike">
                <a:solidFill>
                  <a:srgbClr val="1565C0"/>
                </a:solidFill>
                <a:latin typeface="Arial Black"/>
                <a:ea typeface="Arial Black"/>
                <a:cs typeface="Arial Black"/>
                <a:sym typeface="Arial Black"/>
              </a:rPr>
              <a:t>💎  HIDDEN GEM</a:t>
            </a:r>
            <a:endParaRPr b="0" i="0" sz="1300" u="none" cap="none" strike="noStrike">
              <a:solidFill>
                <a:schemeClr val="dk1"/>
              </a:solidFill>
              <a:latin typeface="Calibri"/>
              <a:ea typeface="Calibri"/>
              <a:cs typeface="Calibri"/>
              <a:sym typeface="Calibri"/>
            </a:endParaRPr>
          </a:p>
        </p:txBody>
      </p:sp>
      <p:sp>
        <p:nvSpPr>
          <p:cNvPr id="243" name="Google Shape;243;p7"/>
          <p:cNvSpPr/>
          <p:nvPr/>
        </p:nvSpPr>
        <p:spPr>
          <a:xfrm>
            <a:off x="548640" y="3529584"/>
            <a:ext cx="38404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1000"/>
              <a:buFont typeface="Calibri"/>
              <a:buNone/>
            </a:pPr>
            <a:r>
              <a:rPr b="0" i="1" lang="en-US" sz="1000" u="none" cap="none" strike="noStrike">
                <a:solidFill>
                  <a:srgbClr val="555555"/>
                </a:solidFill>
                <a:latin typeface="Calibri"/>
                <a:ea typeface="Calibri"/>
                <a:cs typeface="Calibri"/>
                <a:sym typeface="Calibri"/>
              </a:rPr>
              <a:t>Volume Rendah, Rating Tinggi</a:t>
            </a:r>
            <a:endParaRPr b="0" i="0" sz="1000" u="none" cap="none" strike="noStrike">
              <a:solidFill>
                <a:schemeClr val="dk1"/>
              </a:solidFill>
              <a:latin typeface="Calibri"/>
              <a:ea typeface="Calibri"/>
              <a:cs typeface="Calibri"/>
              <a:sym typeface="Calibri"/>
            </a:endParaRPr>
          </a:p>
        </p:txBody>
      </p:sp>
      <p:sp>
        <p:nvSpPr>
          <p:cNvPr id="244" name="Google Shape;244;p7"/>
          <p:cNvSpPr/>
          <p:nvPr/>
        </p:nvSpPr>
        <p:spPr>
          <a:xfrm>
            <a:off x="548640" y="3877056"/>
            <a:ext cx="3749040" cy="36576"/>
          </a:xfrm>
          <a:prstGeom prst="rect">
            <a:avLst/>
          </a:prstGeom>
          <a:solidFill>
            <a:srgbClr val="1565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7"/>
          <p:cNvSpPr/>
          <p:nvPr/>
        </p:nvSpPr>
        <p:spPr>
          <a:xfrm>
            <a:off x="548640" y="3986784"/>
            <a:ext cx="685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900"/>
              <a:buFont typeface="Calibri"/>
              <a:buNone/>
            </a:pPr>
            <a:r>
              <a:rPr b="1" i="0" lang="en-US" sz="900" u="none" cap="none" strike="noStrike">
                <a:solidFill>
                  <a:srgbClr val="555555"/>
                </a:solidFill>
                <a:latin typeface="Calibri"/>
                <a:ea typeface="Calibri"/>
                <a:cs typeface="Calibri"/>
                <a:sym typeface="Calibri"/>
              </a:rPr>
              <a:t>Genre: </a:t>
            </a:r>
            <a:endParaRPr b="0" i="0" sz="900" u="none" cap="none" strike="noStrike">
              <a:solidFill>
                <a:schemeClr val="dk1"/>
              </a:solidFill>
              <a:latin typeface="Calibri"/>
              <a:ea typeface="Calibri"/>
              <a:cs typeface="Calibri"/>
              <a:sym typeface="Calibri"/>
            </a:endParaRPr>
          </a:p>
        </p:txBody>
      </p:sp>
      <p:sp>
        <p:nvSpPr>
          <p:cNvPr id="246" name="Google Shape;246;p7"/>
          <p:cNvSpPr/>
          <p:nvPr/>
        </p:nvSpPr>
        <p:spPr>
          <a:xfrm>
            <a:off x="1188720" y="3986784"/>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565C0"/>
              </a:buClr>
              <a:buSzPts val="900"/>
              <a:buFont typeface="Calibri"/>
              <a:buNone/>
            </a:pPr>
            <a:r>
              <a:rPr b="1" i="0" lang="en-US" sz="900" u="none" cap="none" strike="noStrike">
                <a:solidFill>
                  <a:srgbClr val="1565C0"/>
                </a:solidFill>
                <a:latin typeface="Calibri"/>
                <a:ea typeface="Calibri"/>
                <a:cs typeface="Calibri"/>
                <a:sym typeface="Calibri"/>
              </a:rPr>
              <a:t>History  ·  Action &amp; Adventure</a:t>
            </a:r>
            <a:r>
              <a:rPr b="1" lang="en-US" sz="900">
                <a:solidFill>
                  <a:srgbClr val="1565C0"/>
                </a:solidFill>
                <a:latin typeface="Calibri"/>
                <a:ea typeface="Calibri"/>
                <a:cs typeface="Calibri"/>
                <a:sym typeface="Calibri"/>
              </a:rPr>
              <a:t> </a:t>
            </a:r>
            <a:r>
              <a:rPr b="1" lang="en-US" sz="900">
                <a:solidFill>
                  <a:srgbClr val="1565C0"/>
                </a:solidFill>
                <a:latin typeface="Calibri"/>
                <a:ea typeface="Calibri"/>
                <a:cs typeface="Calibri"/>
                <a:sym typeface="Calibri"/>
              </a:rPr>
              <a:t>· Crime</a:t>
            </a:r>
            <a:endParaRPr b="0" i="0" sz="900" u="none" cap="none" strike="noStrike">
              <a:solidFill>
                <a:schemeClr val="dk1"/>
              </a:solidFill>
              <a:latin typeface="Calibri"/>
              <a:ea typeface="Calibri"/>
              <a:cs typeface="Calibri"/>
              <a:sym typeface="Calibri"/>
            </a:endParaRPr>
          </a:p>
        </p:txBody>
      </p:sp>
      <p:sp>
        <p:nvSpPr>
          <p:cNvPr id="247" name="Google Shape;247;p7"/>
          <p:cNvSpPr/>
          <p:nvPr/>
        </p:nvSpPr>
        <p:spPr>
          <a:xfrm>
            <a:off x="4800600" y="3017520"/>
            <a:ext cx="4160520" cy="1627632"/>
          </a:xfrm>
          <a:prstGeom prst="rect">
            <a:avLst/>
          </a:prstGeom>
          <a:solidFill>
            <a:srgbClr val="F5F5F5"/>
          </a:solidFill>
          <a:ln cap="flat" cmpd="sng" w="12700">
            <a:solidFill>
              <a:srgbClr val="757575"/>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7"/>
          <p:cNvSpPr/>
          <p:nvPr/>
        </p:nvSpPr>
        <p:spPr>
          <a:xfrm>
            <a:off x="4800600" y="3017520"/>
            <a:ext cx="64008" cy="1627632"/>
          </a:xfrm>
          <a:prstGeom prst="rect">
            <a:avLst/>
          </a:prstGeom>
          <a:solidFill>
            <a:srgbClr val="757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7"/>
          <p:cNvSpPr/>
          <p:nvPr/>
        </p:nvSpPr>
        <p:spPr>
          <a:xfrm>
            <a:off x="4983480" y="3108960"/>
            <a:ext cx="384048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57575"/>
              </a:buClr>
              <a:buSzPts val="1300"/>
              <a:buFont typeface="Arial Black"/>
              <a:buNone/>
            </a:pPr>
            <a:r>
              <a:rPr b="1" i="0" lang="en-US" sz="1300" u="none" cap="none" strike="noStrike">
                <a:solidFill>
                  <a:srgbClr val="757575"/>
                </a:solidFill>
                <a:latin typeface="Arial Black"/>
                <a:ea typeface="Arial Black"/>
                <a:cs typeface="Arial Black"/>
                <a:sym typeface="Arial Black"/>
              </a:rPr>
              <a:t>⬇️  LOW PRIORITY</a:t>
            </a:r>
            <a:endParaRPr b="0" i="0" sz="1300" u="none" cap="none" strike="noStrike">
              <a:solidFill>
                <a:schemeClr val="dk1"/>
              </a:solidFill>
              <a:latin typeface="Calibri"/>
              <a:ea typeface="Calibri"/>
              <a:cs typeface="Calibri"/>
              <a:sym typeface="Calibri"/>
            </a:endParaRPr>
          </a:p>
        </p:txBody>
      </p:sp>
      <p:sp>
        <p:nvSpPr>
          <p:cNvPr id="250" name="Google Shape;250;p7"/>
          <p:cNvSpPr/>
          <p:nvPr/>
        </p:nvSpPr>
        <p:spPr>
          <a:xfrm>
            <a:off x="4983480" y="3529584"/>
            <a:ext cx="38404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1000"/>
              <a:buFont typeface="Calibri"/>
              <a:buNone/>
            </a:pPr>
            <a:r>
              <a:rPr b="0" i="1" lang="en-US" sz="1000" u="none" cap="none" strike="noStrike">
                <a:solidFill>
                  <a:srgbClr val="555555"/>
                </a:solidFill>
                <a:latin typeface="Calibri"/>
                <a:ea typeface="Calibri"/>
                <a:cs typeface="Calibri"/>
                <a:sym typeface="Calibri"/>
              </a:rPr>
              <a:t>Volume Rendah, Rating Rendah</a:t>
            </a:r>
            <a:endParaRPr b="0" i="0" sz="1000" u="none" cap="none" strike="noStrike">
              <a:solidFill>
                <a:schemeClr val="dk1"/>
              </a:solidFill>
              <a:latin typeface="Calibri"/>
              <a:ea typeface="Calibri"/>
              <a:cs typeface="Calibri"/>
              <a:sym typeface="Calibri"/>
            </a:endParaRPr>
          </a:p>
        </p:txBody>
      </p:sp>
      <p:sp>
        <p:nvSpPr>
          <p:cNvPr id="251" name="Google Shape;251;p7"/>
          <p:cNvSpPr/>
          <p:nvPr/>
        </p:nvSpPr>
        <p:spPr>
          <a:xfrm>
            <a:off x="4983480" y="3877056"/>
            <a:ext cx="3749040" cy="36576"/>
          </a:xfrm>
          <a:prstGeom prst="rect">
            <a:avLst/>
          </a:prstGeom>
          <a:solidFill>
            <a:srgbClr val="757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7"/>
          <p:cNvSpPr/>
          <p:nvPr/>
        </p:nvSpPr>
        <p:spPr>
          <a:xfrm>
            <a:off x="4983480" y="3986784"/>
            <a:ext cx="685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900"/>
              <a:buFont typeface="Calibri"/>
              <a:buNone/>
            </a:pPr>
            <a:r>
              <a:rPr b="1" i="0" lang="en-US" sz="900" u="none" cap="none" strike="noStrike">
                <a:solidFill>
                  <a:srgbClr val="555555"/>
                </a:solidFill>
                <a:latin typeface="Calibri"/>
                <a:ea typeface="Calibri"/>
                <a:cs typeface="Calibri"/>
                <a:sym typeface="Calibri"/>
              </a:rPr>
              <a:t>Genre: </a:t>
            </a:r>
            <a:endParaRPr b="0" i="0" sz="900" u="none" cap="none" strike="noStrike">
              <a:solidFill>
                <a:schemeClr val="dk1"/>
              </a:solidFill>
              <a:latin typeface="Calibri"/>
              <a:ea typeface="Calibri"/>
              <a:cs typeface="Calibri"/>
              <a:sym typeface="Calibri"/>
            </a:endParaRPr>
          </a:p>
        </p:txBody>
      </p:sp>
      <p:sp>
        <p:nvSpPr>
          <p:cNvPr id="253" name="Google Shape;253;p7"/>
          <p:cNvSpPr/>
          <p:nvPr/>
        </p:nvSpPr>
        <p:spPr>
          <a:xfrm>
            <a:off x="5623560" y="3986784"/>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57575"/>
              </a:buClr>
              <a:buSzPts val="900"/>
              <a:buFont typeface="Calibri"/>
              <a:buNone/>
            </a:pPr>
            <a:r>
              <a:rPr b="1" i="0" lang="en-US" sz="900" u="none" cap="none" strike="noStrike">
                <a:solidFill>
                  <a:srgbClr val="757575"/>
                </a:solidFill>
                <a:latin typeface="Calibri"/>
                <a:ea typeface="Calibri"/>
                <a:cs typeface="Calibri"/>
                <a:sym typeface="Calibri"/>
              </a:rPr>
              <a:t>Reality TV  ·  Talk Show </a:t>
            </a:r>
            <a:r>
              <a:rPr b="1" lang="en-US" sz="900">
                <a:solidFill>
                  <a:srgbClr val="757575"/>
                </a:solidFill>
                <a:latin typeface="Calibri"/>
                <a:ea typeface="Calibri"/>
                <a:cs typeface="Calibri"/>
                <a:sym typeface="Calibri"/>
              </a:rPr>
              <a:t>· News</a:t>
            </a:r>
            <a:endParaRPr b="0" i="0" sz="900" u="none" cap="none" strike="noStrike">
              <a:solidFill>
                <a:schemeClr val="dk1"/>
              </a:solidFill>
              <a:latin typeface="Calibri"/>
              <a:ea typeface="Calibri"/>
              <a:cs typeface="Calibri"/>
              <a:sym typeface="Calibri"/>
            </a:endParaRPr>
          </a:p>
        </p:txBody>
      </p:sp>
      <p:sp>
        <p:nvSpPr>
          <p:cNvPr id="254" name="Google Shape;254;p7"/>
          <p:cNvSpPr/>
          <p:nvPr/>
        </p:nvSpPr>
        <p:spPr>
          <a:xfrm>
            <a:off x="365760" y="4736592"/>
            <a:ext cx="8412480" cy="274320"/>
          </a:xfrm>
          <a:prstGeom prst="rect">
            <a:avLst/>
          </a:prstGeom>
          <a:solidFill>
            <a:srgbClr val="1414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7"/>
          <p:cNvSpPr/>
          <p:nvPr/>
        </p:nvSpPr>
        <p:spPr>
          <a:xfrm>
            <a:off x="502920" y="4736592"/>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  Netflix over-produce Comedy &amp; Romance padahal Documentary &amp; History mendapat rating tertinggi — peluang diferensiasi nyata!</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1414"/>
        </a:solidFill>
      </p:bgPr>
    </p:bg>
    <p:spTree>
      <p:nvGrpSpPr>
        <p:cNvPr id="260" name="Shape 260"/>
        <p:cNvGrpSpPr/>
        <p:nvPr/>
      </p:nvGrpSpPr>
      <p:grpSpPr>
        <a:xfrm>
          <a:off x="0" y="0"/>
          <a:ext cx="0" cy="0"/>
          <a:chOff x="0" y="0"/>
          <a:chExt cx="0" cy="0"/>
        </a:xfrm>
      </p:grpSpPr>
      <p:sp>
        <p:nvSpPr>
          <p:cNvPr id="261" name="Google Shape;261;p8"/>
          <p:cNvSpPr/>
          <p:nvPr/>
        </p:nvSpPr>
        <p:spPr>
          <a:xfrm>
            <a:off x="0" y="0"/>
            <a:ext cx="9144000" cy="1051560"/>
          </a:xfrm>
          <a:prstGeom prst="rect">
            <a:avLst/>
          </a:prstGeom>
          <a:solidFill>
            <a:srgbClr val="1A1A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8"/>
          <p:cNvSpPr/>
          <p:nvPr/>
        </p:nvSpPr>
        <p:spPr>
          <a:xfrm>
            <a:off x="457200" y="73152"/>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000"/>
              <a:buFont typeface="Calibri"/>
              <a:buNone/>
            </a:pPr>
            <a:r>
              <a:rPr b="1" i="0" lang="en-US" sz="1000" u="none" cap="none" strike="noStrike">
                <a:solidFill>
                  <a:srgbClr val="E50914"/>
                </a:solidFill>
                <a:latin typeface="Calibri"/>
                <a:ea typeface="Calibri"/>
                <a:cs typeface="Calibri"/>
                <a:sym typeface="Calibri"/>
              </a:rPr>
              <a:t>0</a:t>
            </a:r>
            <a:r>
              <a:rPr b="1" lang="en-US" sz="1000">
                <a:solidFill>
                  <a:srgbClr val="E50914"/>
                </a:solidFill>
                <a:latin typeface="Calibri"/>
                <a:ea typeface="Calibri"/>
                <a:cs typeface="Calibri"/>
                <a:sym typeface="Calibri"/>
              </a:rPr>
              <a:t>9</a:t>
            </a:r>
            <a:r>
              <a:rPr b="1" i="0" lang="en-US" sz="1000" u="none" cap="none" strike="noStrike">
                <a:solidFill>
                  <a:srgbClr val="E50914"/>
                </a:solidFill>
                <a:latin typeface="Calibri"/>
                <a:ea typeface="Calibri"/>
                <a:cs typeface="Calibri"/>
                <a:sym typeface="Calibri"/>
              </a:rPr>
              <a:t> /  KEY INSIGHTS</a:t>
            </a:r>
            <a:endParaRPr b="0" i="0" sz="1000" u="none" cap="none" strike="noStrike">
              <a:solidFill>
                <a:schemeClr val="dk1"/>
              </a:solidFill>
              <a:latin typeface="Calibri"/>
              <a:ea typeface="Calibri"/>
              <a:cs typeface="Calibri"/>
              <a:sym typeface="Calibri"/>
            </a:endParaRPr>
          </a:p>
        </p:txBody>
      </p:sp>
      <p:sp>
        <p:nvSpPr>
          <p:cNvPr id="263" name="Google Shape;263;p8"/>
          <p:cNvSpPr/>
          <p:nvPr/>
        </p:nvSpPr>
        <p:spPr>
          <a:xfrm>
            <a:off x="457200" y="347472"/>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600"/>
              <a:buFont typeface="Arial Black"/>
              <a:buNone/>
            </a:pPr>
            <a:r>
              <a:rPr b="1" i="0" lang="en-US" sz="2600" u="none" cap="none" strike="noStrike">
                <a:solidFill>
                  <a:srgbClr val="FFFFFF"/>
                </a:solidFill>
                <a:latin typeface="Arial Black"/>
                <a:ea typeface="Arial Black"/>
                <a:cs typeface="Arial Black"/>
                <a:sym typeface="Arial Black"/>
              </a:rPr>
              <a:t>5 Temuan Utama Analisis</a:t>
            </a:r>
            <a:endParaRPr b="0" i="0" sz="2600" u="none" cap="none" strike="noStrike">
              <a:solidFill>
                <a:schemeClr val="dk1"/>
              </a:solidFill>
              <a:latin typeface="Calibri"/>
              <a:ea typeface="Calibri"/>
              <a:cs typeface="Calibri"/>
              <a:sym typeface="Calibri"/>
            </a:endParaRPr>
          </a:p>
        </p:txBody>
      </p:sp>
      <p:sp>
        <p:nvSpPr>
          <p:cNvPr id="264" name="Google Shape;264;p8"/>
          <p:cNvSpPr/>
          <p:nvPr/>
        </p:nvSpPr>
        <p:spPr>
          <a:xfrm>
            <a:off x="365760" y="1188720"/>
            <a:ext cx="4160520" cy="1115568"/>
          </a:xfrm>
          <a:prstGeom prst="rect">
            <a:avLst/>
          </a:prstGeom>
          <a:solidFill>
            <a:srgbClr val="1E1E1E"/>
          </a:solidFill>
          <a:ln cap="flat" cmpd="sng" w="12700">
            <a:solidFill>
              <a:srgbClr val="333333"/>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8"/>
          <p:cNvSpPr/>
          <p:nvPr/>
        </p:nvSpPr>
        <p:spPr>
          <a:xfrm>
            <a:off x="365760" y="1188720"/>
            <a:ext cx="64008" cy="1115568"/>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8"/>
          <p:cNvSpPr/>
          <p:nvPr/>
        </p:nvSpPr>
        <p:spPr>
          <a:xfrm>
            <a:off x="530352" y="1261872"/>
            <a:ext cx="4114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600"/>
              <a:buFont typeface="Arial Black"/>
              <a:buNone/>
            </a:pPr>
            <a:r>
              <a:rPr b="1" i="0" lang="en-US" sz="1600" u="none" cap="none" strike="noStrike">
                <a:solidFill>
                  <a:srgbClr val="E50914"/>
                </a:solidFill>
                <a:latin typeface="Arial Black"/>
                <a:ea typeface="Arial Black"/>
                <a:cs typeface="Arial Black"/>
                <a:sym typeface="Arial Black"/>
              </a:rPr>
              <a:t>0</a:t>
            </a:r>
            <a:r>
              <a:rPr b="1" i="0" lang="en-US" sz="1600" u="none" cap="none" strike="noStrike">
                <a:solidFill>
                  <a:srgbClr val="E50914"/>
                </a:solidFill>
                <a:latin typeface="Arial Black"/>
                <a:ea typeface="Arial Black"/>
                <a:cs typeface="Arial Black"/>
                <a:sym typeface="Arial Black"/>
              </a:rPr>
              <a:t>1</a:t>
            </a:r>
            <a:endParaRPr b="0" i="0" sz="1600" u="none" cap="none" strike="noStrike">
              <a:solidFill>
                <a:schemeClr val="dk1"/>
              </a:solidFill>
              <a:latin typeface="Calibri"/>
              <a:ea typeface="Calibri"/>
              <a:cs typeface="Calibri"/>
              <a:sym typeface="Calibri"/>
            </a:endParaRPr>
          </a:p>
        </p:txBody>
      </p:sp>
      <p:sp>
        <p:nvSpPr>
          <p:cNvPr id="267" name="Google Shape;267;p8"/>
          <p:cNvSpPr/>
          <p:nvPr/>
        </p:nvSpPr>
        <p:spPr>
          <a:xfrm>
            <a:off x="914400" y="1261872"/>
            <a:ext cx="34747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TV Show Lebih Di</a:t>
            </a:r>
            <a:r>
              <a:rPr b="1" lang="en-US" sz="1100">
                <a:solidFill>
                  <a:srgbClr val="FFFFFF"/>
                </a:solidFill>
                <a:latin typeface="Calibri"/>
                <a:ea typeface="Calibri"/>
                <a:cs typeface="Calibri"/>
                <a:sym typeface="Calibri"/>
              </a:rPr>
              <a:t>minati</a:t>
            </a:r>
            <a:endParaRPr b="0" i="0" sz="1100" u="none" cap="none" strike="noStrike">
              <a:solidFill>
                <a:schemeClr val="dk1"/>
              </a:solidFill>
              <a:latin typeface="Calibri"/>
              <a:ea typeface="Calibri"/>
              <a:cs typeface="Calibri"/>
              <a:sym typeface="Calibri"/>
            </a:endParaRPr>
          </a:p>
        </p:txBody>
      </p:sp>
      <p:sp>
        <p:nvSpPr>
          <p:cNvPr id="268" name="Google Shape;268;p8"/>
          <p:cNvSpPr/>
          <p:nvPr/>
        </p:nvSpPr>
        <p:spPr>
          <a:xfrm>
            <a:off x="530352" y="1664208"/>
            <a:ext cx="3840480" cy="566928"/>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AAAAAA"/>
              </a:buClr>
              <a:buSzPts val="950"/>
              <a:buFont typeface="Calibri"/>
              <a:buNone/>
            </a:pPr>
            <a:r>
              <a:rPr b="0" i="0" lang="en-US" sz="950" u="none" cap="none" strike="noStrike">
                <a:solidFill>
                  <a:srgbClr val="AAAAAA"/>
                </a:solidFill>
                <a:latin typeface="Calibri"/>
                <a:ea typeface="Calibri"/>
                <a:cs typeface="Calibri"/>
                <a:sym typeface="Calibri"/>
              </a:rPr>
              <a:t>Meski Movie mendominasi library, </a:t>
            </a:r>
            <a:r>
              <a:rPr b="1" i="0" lang="en-US" sz="950" u="none" cap="none" strike="noStrike">
                <a:solidFill>
                  <a:schemeClr val="lt1"/>
                </a:solidFill>
                <a:latin typeface="Calibri"/>
                <a:ea typeface="Calibri"/>
                <a:cs typeface="Calibri"/>
                <a:sym typeface="Calibri"/>
              </a:rPr>
              <a:t>TV Show</a:t>
            </a:r>
            <a:r>
              <a:rPr b="0" i="0" lang="en-US" sz="950" u="none" cap="none" strike="noStrike">
                <a:solidFill>
                  <a:srgbClr val="AAAAAA"/>
                </a:solidFill>
                <a:latin typeface="Calibri"/>
                <a:ea typeface="Calibri"/>
                <a:cs typeface="Calibri"/>
                <a:sym typeface="Calibri"/>
              </a:rPr>
              <a:t> secara konsisten </a:t>
            </a:r>
            <a:r>
              <a:rPr b="0" i="0" lang="en-US" sz="950" u="none" cap="none" strike="noStrike">
                <a:solidFill>
                  <a:schemeClr val="lt1"/>
                </a:solidFill>
                <a:latin typeface="Calibri"/>
                <a:ea typeface="Calibri"/>
                <a:cs typeface="Calibri"/>
                <a:sym typeface="Calibri"/>
              </a:rPr>
              <a:t>mendapat rata-rata rating lebih tinggi</a:t>
            </a:r>
            <a:r>
              <a:rPr b="0" i="0" lang="en-US" sz="950" u="none" cap="none" strike="noStrike">
                <a:solidFill>
                  <a:srgbClr val="AAAAAA"/>
                </a:solidFill>
                <a:latin typeface="Calibri"/>
                <a:ea typeface="Calibri"/>
                <a:cs typeface="Calibri"/>
                <a:sym typeface="Calibri"/>
              </a:rPr>
              <a:t> dari penonton global.</a:t>
            </a:r>
            <a:endParaRPr b="0" i="0" sz="950" u="none" cap="none" strike="noStrike">
              <a:solidFill>
                <a:schemeClr val="dk1"/>
              </a:solidFill>
              <a:latin typeface="Calibri"/>
              <a:ea typeface="Calibri"/>
              <a:cs typeface="Calibri"/>
              <a:sym typeface="Calibri"/>
            </a:endParaRPr>
          </a:p>
        </p:txBody>
      </p:sp>
      <p:sp>
        <p:nvSpPr>
          <p:cNvPr id="269" name="Google Shape;269;p8"/>
          <p:cNvSpPr/>
          <p:nvPr/>
        </p:nvSpPr>
        <p:spPr>
          <a:xfrm>
            <a:off x="365760" y="2450592"/>
            <a:ext cx="4160520" cy="1115568"/>
          </a:xfrm>
          <a:prstGeom prst="rect">
            <a:avLst/>
          </a:prstGeom>
          <a:solidFill>
            <a:srgbClr val="1E1E1E"/>
          </a:solidFill>
          <a:ln cap="flat" cmpd="sng" w="12700">
            <a:solidFill>
              <a:srgbClr val="333333"/>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8"/>
          <p:cNvSpPr/>
          <p:nvPr/>
        </p:nvSpPr>
        <p:spPr>
          <a:xfrm>
            <a:off x="365760" y="2450592"/>
            <a:ext cx="64008" cy="1115568"/>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8"/>
          <p:cNvSpPr/>
          <p:nvPr/>
        </p:nvSpPr>
        <p:spPr>
          <a:xfrm>
            <a:off x="530352" y="2523744"/>
            <a:ext cx="4114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600"/>
              <a:buFont typeface="Arial Black"/>
              <a:buNone/>
            </a:pPr>
            <a:r>
              <a:rPr b="1" i="0" lang="en-US" sz="1600" u="none" cap="none" strike="noStrike">
                <a:solidFill>
                  <a:srgbClr val="E50914"/>
                </a:solidFill>
                <a:latin typeface="Arial Black"/>
                <a:ea typeface="Arial Black"/>
                <a:cs typeface="Arial Black"/>
                <a:sym typeface="Arial Black"/>
              </a:rPr>
              <a:t>02</a:t>
            </a:r>
            <a:endParaRPr b="0" i="0" sz="1600" u="none" cap="none" strike="noStrike">
              <a:solidFill>
                <a:schemeClr val="dk1"/>
              </a:solidFill>
              <a:latin typeface="Calibri"/>
              <a:ea typeface="Calibri"/>
              <a:cs typeface="Calibri"/>
              <a:sym typeface="Calibri"/>
            </a:endParaRPr>
          </a:p>
        </p:txBody>
      </p:sp>
      <p:sp>
        <p:nvSpPr>
          <p:cNvPr id="272" name="Google Shape;272;p8"/>
          <p:cNvSpPr/>
          <p:nvPr/>
        </p:nvSpPr>
        <p:spPr>
          <a:xfrm>
            <a:off x="914400" y="2523744"/>
            <a:ext cx="34747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Genre Gap yang Signifikan</a:t>
            </a:r>
            <a:endParaRPr b="0" i="0" sz="1100" u="none" cap="none" strike="noStrike">
              <a:solidFill>
                <a:schemeClr val="dk1"/>
              </a:solidFill>
              <a:latin typeface="Calibri"/>
              <a:ea typeface="Calibri"/>
              <a:cs typeface="Calibri"/>
              <a:sym typeface="Calibri"/>
            </a:endParaRPr>
          </a:p>
        </p:txBody>
      </p:sp>
      <p:sp>
        <p:nvSpPr>
          <p:cNvPr id="273" name="Google Shape;273;p8"/>
          <p:cNvSpPr/>
          <p:nvPr/>
        </p:nvSpPr>
        <p:spPr>
          <a:xfrm>
            <a:off x="530352" y="2926080"/>
            <a:ext cx="3840480" cy="566928"/>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AAAAAA"/>
              </a:buClr>
              <a:buSzPts val="950"/>
              <a:buFont typeface="Calibri"/>
              <a:buNone/>
            </a:pPr>
            <a:r>
              <a:rPr b="0" i="0" lang="en-US" sz="950" u="none" cap="none" strike="noStrike">
                <a:solidFill>
                  <a:schemeClr val="lt1"/>
                </a:solidFill>
                <a:latin typeface="Calibri"/>
                <a:ea typeface="Calibri"/>
                <a:cs typeface="Calibri"/>
                <a:sym typeface="Calibri"/>
              </a:rPr>
              <a:t>Drama</a:t>
            </a:r>
            <a:r>
              <a:rPr b="0" i="0" lang="en-US" sz="950" u="none" cap="none" strike="noStrike">
                <a:solidFill>
                  <a:srgbClr val="AAAAAA"/>
                </a:solidFill>
                <a:latin typeface="Calibri"/>
                <a:ea typeface="Calibri"/>
                <a:cs typeface="Calibri"/>
                <a:sym typeface="Calibri"/>
              </a:rPr>
              <a:t> &amp; </a:t>
            </a:r>
            <a:r>
              <a:rPr b="0" i="0" lang="en-US" sz="950" u="none" cap="none" strike="noStrike">
                <a:solidFill>
                  <a:schemeClr val="lt1"/>
                </a:solidFill>
                <a:latin typeface="Calibri"/>
                <a:ea typeface="Calibri"/>
                <a:cs typeface="Calibri"/>
                <a:sym typeface="Calibri"/>
              </a:rPr>
              <a:t>Comedy</a:t>
            </a:r>
            <a:r>
              <a:rPr b="0" i="0" lang="en-US" sz="950" u="none" cap="none" strike="noStrike">
                <a:solidFill>
                  <a:srgbClr val="AAAAAA"/>
                </a:solidFill>
                <a:latin typeface="Calibri"/>
                <a:ea typeface="Calibri"/>
                <a:cs typeface="Calibri"/>
                <a:sym typeface="Calibri"/>
              </a:rPr>
              <a:t> </a:t>
            </a:r>
            <a:r>
              <a:rPr b="0" i="0" lang="en-US" sz="950" u="none" cap="none" strike="noStrike">
                <a:solidFill>
                  <a:schemeClr val="lt1"/>
                </a:solidFill>
                <a:latin typeface="Calibri"/>
                <a:ea typeface="Calibri"/>
                <a:cs typeface="Calibri"/>
                <a:sym typeface="Calibri"/>
              </a:rPr>
              <a:t>paling banyak</a:t>
            </a:r>
            <a:r>
              <a:rPr b="0" i="0" lang="en-US" sz="950" u="none" cap="none" strike="noStrike">
                <a:solidFill>
                  <a:srgbClr val="AAAAAA"/>
                </a:solidFill>
                <a:latin typeface="Calibri"/>
                <a:ea typeface="Calibri"/>
                <a:cs typeface="Calibri"/>
                <a:sym typeface="Calibri"/>
              </a:rPr>
              <a:t> diproduksi, namun </a:t>
            </a:r>
            <a:r>
              <a:rPr b="0" i="0" lang="en-US" sz="950" u="none" cap="none" strike="noStrike">
                <a:solidFill>
                  <a:schemeClr val="lt1"/>
                </a:solidFill>
                <a:latin typeface="Calibri"/>
                <a:ea typeface="Calibri"/>
                <a:cs typeface="Calibri"/>
                <a:sym typeface="Calibri"/>
              </a:rPr>
              <a:t>Documentary</a:t>
            </a:r>
            <a:r>
              <a:rPr b="0" i="0" lang="en-US" sz="950" u="none" cap="none" strike="noStrike">
                <a:solidFill>
                  <a:srgbClr val="AAAAAA"/>
                </a:solidFill>
                <a:latin typeface="Calibri"/>
                <a:ea typeface="Calibri"/>
                <a:cs typeface="Calibri"/>
                <a:sym typeface="Calibri"/>
              </a:rPr>
              <a:t> &amp; </a:t>
            </a:r>
            <a:r>
              <a:rPr b="0" i="0" lang="en-US" sz="950" u="none" cap="none" strike="noStrike">
                <a:solidFill>
                  <a:schemeClr val="lt1"/>
                </a:solidFill>
                <a:latin typeface="Calibri"/>
                <a:ea typeface="Calibri"/>
                <a:cs typeface="Calibri"/>
                <a:sym typeface="Calibri"/>
              </a:rPr>
              <a:t>History</a:t>
            </a:r>
            <a:r>
              <a:rPr b="0" i="0" lang="en-US" sz="950" u="none" cap="none" strike="noStrike">
                <a:solidFill>
                  <a:srgbClr val="AAAAAA"/>
                </a:solidFill>
                <a:latin typeface="Calibri"/>
                <a:ea typeface="Calibri"/>
                <a:cs typeface="Calibri"/>
                <a:sym typeface="Calibri"/>
              </a:rPr>
              <a:t> memiliki </a:t>
            </a:r>
            <a:r>
              <a:rPr b="0" i="0" lang="en-US" sz="950" u="none" cap="none" strike="noStrike">
                <a:solidFill>
                  <a:schemeClr val="lt1"/>
                </a:solidFill>
                <a:latin typeface="Calibri"/>
                <a:ea typeface="Calibri"/>
                <a:cs typeface="Calibri"/>
                <a:sym typeface="Calibri"/>
              </a:rPr>
              <a:t>rating tertinggi</a:t>
            </a:r>
            <a:r>
              <a:rPr b="0" i="0" lang="en-US" sz="950" u="none" cap="none" strike="noStrike">
                <a:solidFill>
                  <a:srgbClr val="AAAAAA"/>
                </a:solidFill>
                <a:latin typeface="Calibri"/>
                <a:ea typeface="Calibri"/>
                <a:cs typeface="Calibri"/>
                <a:sym typeface="Calibri"/>
              </a:rPr>
              <a:t> — </a:t>
            </a:r>
            <a:r>
              <a:rPr b="0" i="0" lang="en-US" sz="950" u="none" cap="none" strike="noStrike">
                <a:solidFill>
                  <a:schemeClr val="lt1"/>
                </a:solidFill>
                <a:latin typeface="Calibri"/>
                <a:ea typeface="Calibri"/>
                <a:cs typeface="Calibri"/>
                <a:sym typeface="Calibri"/>
              </a:rPr>
              <a:t>ada gap besar antara volume dan kualitas</a:t>
            </a:r>
            <a:r>
              <a:rPr b="0" i="0" lang="en-US" sz="950" u="none" cap="none" strike="noStrike">
                <a:solidFill>
                  <a:srgbClr val="AAAAAA"/>
                </a:solidFill>
                <a:latin typeface="Calibri"/>
                <a:ea typeface="Calibri"/>
                <a:cs typeface="Calibri"/>
                <a:sym typeface="Calibri"/>
              </a:rPr>
              <a:t>.</a:t>
            </a:r>
            <a:endParaRPr b="0" i="0" sz="950" u="none" cap="none" strike="noStrike">
              <a:solidFill>
                <a:schemeClr val="dk1"/>
              </a:solidFill>
              <a:latin typeface="Calibri"/>
              <a:ea typeface="Calibri"/>
              <a:cs typeface="Calibri"/>
              <a:sym typeface="Calibri"/>
            </a:endParaRPr>
          </a:p>
        </p:txBody>
      </p:sp>
      <p:sp>
        <p:nvSpPr>
          <p:cNvPr id="274" name="Google Shape;274;p8"/>
          <p:cNvSpPr/>
          <p:nvPr/>
        </p:nvSpPr>
        <p:spPr>
          <a:xfrm>
            <a:off x="365760" y="3712464"/>
            <a:ext cx="4160520" cy="1115568"/>
          </a:xfrm>
          <a:prstGeom prst="rect">
            <a:avLst/>
          </a:prstGeom>
          <a:solidFill>
            <a:srgbClr val="1E1E1E"/>
          </a:solidFill>
          <a:ln cap="flat" cmpd="sng" w="12700">
            <a:solidFill>
              <a:srgbClr val="333333"/>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8"/>
          <p:cNvSpPr/>
          <p:nvPr/>
        </p:nvSpPr>
        <p:spPr>
          <a:xfrm>
            <a:off x="365760" y="3712464"/>
            <a:ext cx="64008" cy="1115568"/>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8"/>
          <p:cNvSpPr/>
          <p:nvPr/>
        </p:nvSpPr>
        <p:spPr>
          <a:xfrm>
            <a:off x="530352" y="3785616"/>
            <a:ext cx="4114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600"/>
              <a:buFont typeface="Arial Black"/>
              <a:buNone/>
            </a:pPr>
            <a:r>
              <a:rPr b="1" i="0" lang="en-US" sz="1600" u="none" cap="none" strike="noStrike">
                <a:solidFill>
                  <a:srgbClr val="E50914"/>
                </a:solidFill>
                <a:latin typeface="Arial Black"/>
                <a:ea typeface="Arial Black"/>
                <a:cs typeface="Arial Black"/>
                <a:sym typeface="Arial Black"/>
              </a:rPr>
              <a:t>03</a:t>
            </a:r>
            <a:endParaRPr b="0" i="0" sz="1600" u="none" cap="none" strike="noStrike">
              <a:solidFill>
                <a:schemeClr val="dk1"/>
              </a:solidFill>
              <a:latin typeface="Calibri"/>
              <a:ea typeface="Calibri"/>
              <a:cs typeface="Calibri"/>
              <a:sym typeface="Calibri"/>
            </a:endParaRPr>
          </a:p>
        </p:txBody>
      </p:sp>
      <p:sp>
        <p:nvSpPr>
          <p:cNvPr id="277" name="Google Shape;277;p8"/>
          <p:cNvSpPr/>
          <p:nvPr/>
        </p:nvSpPr>
        <p:spPr>
          <a:xfrm>
            <a:off x="914400" y="3785616"/>
            <a:ext cx="34747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Dominasi Konten Bahasa Inggris</a:t>
            </a:r>
            <a:endParaRPr b="0" i="0" sz="1100" u="none" cap="none" strike="noStrike">
              <a:solidFill>
                <a:schemeClr val="dk1"/>
              </a:solidFill>
              <a:latin typeface="Calibri"/>
              <a:ea typeface="Calibri"/>
              <a:cs typeface="Calibri"/>
              <a:sym typeface="Calibri"/>
            </a:endParaRPr>
          </a:p>
        </p:txBody>
      </p:sp>
      <p:sp>
        <p:nvSpPr>
          <p:cNvPr id="278" name="Google Shape;278;p8"/>
          <p:cNvSpPr/>
          <p:nvPr/>
        </p:nvSpPr>
        <p:spPr>
          <a:xfrm>
            <a:off x="530352" y="4187952"/>
            <a:ext cx="3840480" cy="566928"/>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AAAAAA"/>
              </a:buClr>
              <a:buSzPts val="950"/>
              <a:buFont typeface="Calibri"/>
              <a:buNone/>
            </a:pPr>
            <a:r>
              <a:rPr b="0" i="0" lang="en-US" sz="950" u="none" cap="none" strike="noStrike">
                <a:solidFill>
                  <a:srgbClr val="AAAAAA"/>
                </a:solidFill>
                <a:latin typeface="Calibri"/>
                <a:ea typeface="Calibri"/>
                <a:cs typeface="Calibri"/>
                <a:sym typeface="Calibri"/>
              </a:rPr>
              <a:t>Konten </a:t>
            </a:r>
            <a:r>
              <a:rPr b="0" i="0" lang="en-US" sz="950" u="none" cap="none" strike="noStrike">
                <a:solidFill>
                  <a:schemeClr val="lt1"/>
                </a:solidFill>
                <a:latin typeface="Calibri"/>
                <a:ea typeface="Calibri"/>
                <a:cs typeface="Calibri"/>
                <a:sym typeface="Calibri"/>
              </a:rPr>
              <a:t>berbahasa Inggris mendominasi</a:t>
            </a:r>
            <a:r>
              <a:rPr b="0" i="0" lang="en-US" sz="950" u="none" cap="none" strike="noStrike">
                <a:solidFill>
                  <a:srgbClr val="AAAAAA"/>
                </a:solidFill>
                <a:latin typeface="Calibri"/>
                <a:ea typeface="Calibri"/>
                <a:cs typeface="Calibri"/>
                <a:sym typeface="Calibri"/>
              </a:rPr>
              <a:t>, namun </a:t>
            </a:r>
            <a:r>
              <a:rPr b="0" i="0" lang="en-US" sz="950" u="none" cap="none" strike="noStrike">
                <a:solidFill>
                  <a:schemeClr val="lt1"/>
                </a:solidFill>
                <a:latin typeface="Calibri"/>
                <a:ea typeface="Calibri"/>
                <a:cs typeface="Calibri"/>
                <a:sym typeface="Calibri"/>
              </a:rPr>
              <a:t>Jepang</a:t>
            </a:r>
            <a:r>
              <a:rPr b="0" i="0" lang="en-US" sz="950" u="none" cap="none" strike="noStrike">
                <a:solidFill>
                  <a:srgbClr val="AAAAAA"/>
                </a:solidFill>
                <a:latin typeface="Calibri"/>
                <a:ea typeface="Calibri"/>
                <a:cs typeface="Calibri"/>
                <a:sym typeface="Calibri"/>
              </a:rPr>
              <a:t> &amp; </a:t>
            </a:r>
            <a:r>
              <a:rPr lang="en-US" sz="950">
                <a:solidFill>
                  <a:schemeClr val="lt1"/>
                </a:solidFill>
                <a:latin typeface="Calibri"/>
                <a:ea typeface="Calibri"/>
                <a:cs typeface="Calibri"/>
                <a:sym typeface="Calibri"/>
              </a:rPr>
              <a:t>Korea </a:t>
            </a:r>
            <a:r>
              <a:rPr b="0" i="0" lang="en-US" sz="950" u="none" cap="none" strike="noStrike">
                <a:solidFill>
                  <a:schemeClr val="lt1"/>
                </a:solidFill>
                <a:latin typeface="Calibri"/>
                <a:ea typeface="Calibri"/>
                <a:cs typeface="Calibri"/>
                <a:sym typeface="Calibri"/>
              </a:rPr>
              <a:t>terus bertumbuh</a:t>
            </a:r>
            <a:r>
              <a:rPr b="0" i="0" lang="en-US" sz="950" u="none" cap="none" strike="noStrike">
                <a:solidFill>
                  <a:srgbClr val="AAAAAA"/>
                </a:solidFill>
                <a:latin typeface="Calibri"/>
                <a:ea typeface="Calibri"/>
                <a:cs typeface="Calibri"/>
                <a:sym typeface="Calibri"/>
              </a:rPr>
              <a:t> mencerminkan strategi globalisasi Netflix.</a:t>
            </a:r>
            <a:endParaRPr b="0" i="0" sz="950" u="none" cap="none" strike="noStrike">
              <a:solidFill>
                <a:schemeClr val="dk1"/>
              </a:solidFill>
              <a:latin typeface="Calibri"/>
              <a:ea typeface="Calibri"/>
              <a:cs typeface="Calibri"/>
              <a:sym typeface="Calibri"/>
            </a:endParaRPr>
          </a:p>
        </p:txBody>
      </p:sp>
      <p:sp>
        <p:nvSpPr>
          <p:cNvPr id="279" name="Google Shape;279;p8"/>
          <p:cNvSpPr/>
          <p:nvPr/>
        </p:nvSpPr>
        <p:spPr>
          <a:xfrm>
            <a:off x="4846320" y="1188720"/>
            <a:ext cx="4160520" cy="1115568"/>
          </a:xfrm>
          <a:prstGeom prst="rect">
            <a:avLst/>
          </a:prstGeom>
          <a:solidFill>
            <a:srgbClr val="1E1E1E"/>
          </a:solidFill>
          <a:ln cap="flat" cmpd="sng" w="12700">
            <a:solidFill>
              <a:srgbClr val="333333"/>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8"/>
          <p:cNvSpPr/>
          <p:nvPr/>
        </p:nvSpPr>
        <p:spPr>
          <a:xfrm>
            <a:off x="4846320" y="1188720"/>
            <a:ext cx="64008" cy="1115568"/>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8"/>
          <p:cNvSpPr/>
          <p:nvPr/>
        </p:nvSpPr>
        <p:spPr>
          <a:xfrm>
            <a:off x="5010912" y="1261872"/>
            <a:ext cx="4114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600"/>
              <a:buFont typeface="Arial Black"/>
              <a:buNone/>
            </a:pPr>
            <a:r>
              <a:rPr b="1" i="0" lang="en-US" sz="1600" u="none" cap="none" strike="noStrike">
                <a:solidFill>
                  <a:srgbClr val="E50914"/>
                </a:solidFill>
                <a:latin typeface="Arial Black"/>
                <a:ea typeface="Arial Black"/>
                <a:cs typeface="Arial Black"/>
                <a:sym typeface="Arial Black"/>
              </a:rPr>
              <a:t>04</a:t>
            </a:r>
            <a:endParaRPr b="0" i="0" sz="1600" u="none" cap="none" strike="noStrike">
              <a:solidFill>
                <a:schemeClr val="dk1"/>
              </a:solidFill>
              <a:latin typeface="Calibri"/>
              <a:ea typeface="Calibri"/>
              <a:cs typeface="Calibri"/>
              <a:sym typeface="Calibri"/>
            </a:endParaRPr>
          </a:p>
        </p:txBody>
      </p:sp>
      <p:sp>
        <p:nvSpPr>
          <p:cNvPr id="282" name="Google Shape;282;p8"/>
          <p:cNvSpPr/>
          <p:nvPr/>
        </p:nvSpPr>
        <p:spPr>
          <a:xfrm>
            <a:off x="5394960" y="1261872"/>
            <a:ext cx="34747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Pola Akuisisi Konten Bervariasi</a:t>
            </a:r>
            <a:endParaRPr b="0" i="0" sz="1100" u="none" cap="none" strike="noStrike">
              <a:solidFill>
                <a:schemeClr val="dk1"/>
              </a:solidFill>
              <a:latin typeface="Calibri"/>
              <a:ea typeface="Calibri"/>
              <a:cs typeface="Calibri"/>
              <a:sym typeface="Calibri"/>
            </a:endParaRPr>
          </a:p>
        </p:txBody>
      </p:sp>
      <p:sp>
        <p:nvSpPr>
          <p:cNvPr id="283" name="Google Shape;283;p8"/>
          <p:cNvSpPr/>
          <p:nvPr/>
        </p:nvSpPr>
        <p:spPr>
          <a:xfrm>
            <a:off x="5010912" y="1664208"/>
            <a:ext cx="3840480" cy="566928"/>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AAAAAA"/>
              </a:buClr>
              <a:buSzPts val="950"/>
              <a:buFont typeface="Calibri"/>
              <a:buNone/>
            </a:pPr>
            <a:r>
              <a:rPr b="0" i="0" lang="en-US" sz="950" u="none" cap="none" strike="noStrike">
                <a:solidFill>
                  <a:srgbClr val="AAAAAA"/>
                </a:solidFill>
                <a:latin typeface="Calibri"/>
                <a:ea typeface="Calibri"/>
                <a:cs typeface="Calibri"/>
                <a:sym typeface="Calibri"/>
              </a:rPr>
              <a:t>Mayoritas konten </a:t>
            </a:r>
            <a:r>
              <a:rPr b="0" i="0" lang="en-US" sz="950" u="none" cap="none" strike="noStrike">
                <a:solidFill>
                  <a:schemeClr val="lt1"/>
                </a:solidFill>
                <a:latin typeface="Calibri"/>
                <a:ea typeface="Calibri"/>
                <a:cs typeface="Calibri"/>
                <a:sym typeface="Calibri"/>
              </a:rPr>
              <a:t>masuk Netflix dalam 1–3 tahun setelah rilis.</a:t>
            </a:r>
            <a:r>
              <a:rPr b="0" i="0" lang="en-US" sz="950" u="none" cap="none" strike="noStrike">
                <a:solidFill>
                  <a:srgbClr val="AAAAAA"/>
                </a:solidFill>
                <a:latin typeface="Calibri"/>
                <a:ea typeface="Calibri"/>
                <a:cs typeface="Calibri"/>
                <a:sym typeface="Calibri"/>
              </a:rPr>
              <a:t> Ada juga pola akuisisi konten klasik (&gt;5 tahun) untuk memperkaya library.</a:t>
            </a:r>
            <a:endParaRPr b="0" i="0" sz="950" u="none" cap="none" strike="noStrike">
              <a:solidFill>
                <a:schemeClr val="dk1"/>
              </a:solidFill>
              <a:latin typeface="Calibri"/>
              <a:ea typeface="Calibri"/>
              <a:cs typeface="Calibri"/>
              <a:sym typeface="Calibri"/>
            </a:endParaRPr>
          </a:p>
        </p:txBody>
      </p:sp>
      <p:sp>
        <p:nvSpPr>
          <p:cNvPr id="284" name="Google Shape;284;p8"/>
          <p:cNvSpPr/>
          <p:nvPr/>
        </p:nvSpPr>
        <p:spPr>
          <a:xfrm>
            <a:off x="4846320" y="2450592"/>
            <a:ext cx="4160520" cy="1115568"/>
          </a:xfrm>
          <a:prstGeom prst="rect">
            <a:avLst/>
          </a:prstGeom>
          <a:solidFill>
            <a:srgbClr val="1E1E1E"/>
          </a:solidFill>
          <a:ln cap="flat" cmpd="sng" w="12700">
            <a:solidFill>
              <a:srgbClr val="333333"/>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8"/>
          <p:cNvSpPr/>
          <p:nvPr/>
        </p:nvSpPr>
        <p:spPr>
          <a:xfrm>
            <a:off x="4846320" y="2450592"/>
            <a:ext cx="64008" cy="1115568"/>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8"/>
          <p:cNvSpPr/>
          <p:nvPr/>
        </p:nvSpPr>
        <p:spPr>
          <a:xfrm>
            <a:off x="5010912" y="2523744"/>
            <a:ext cx="41148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600"/>
              <a:buFont typeface="Arial Black"/>
              <a:buNone/>
            </a:pPr>
            <a:r>
              <a:rPr b="1" i="0" lang="en-US" sz="1600" u="none" cap="none" strike="noStrike">
                <a:solidFill>
                  <a:srgbClr val="E50914"/>
                </a:solidFill>
                <a:latin typeface="Arial Black"/>
                <a:ea typeface="Arial Black"/>
                <a:cs typeface="Arial Black"/>
                <a:sym typeface="Arial Black"/>
              </a:rPr>
              <a:t>05</a:t>
            </a:r>
            <a:endParaRPr b="0" i="0" sz="1600" u="none" cap="none" strike="noStrike">
              <a:solidFill>
                <a:schemeClr val="dk1"/>
              </a:solidFill>
              <a:latin typeface="Calibri"/>
              <a:ea typeface="Calibri"/>
              <a:cs typeface="Calibri"/>
              <a:sym typeface="Calibri"/>
            </a:endParaRPr>
          </a:p>
        </p:txBody>
      </p:sp>
      <p:sp>
        <p:nvSpPr>
          <p:cNvPr id="287" name="Google Shape;287;p8"/>
          <p:cNvSpPr/>
          <p:nvPr/>
        </p:nvSpPr>
        <p:spPr>
          <a:xfrm>
            <a:off x="5394960" y="2523744"/>
            <a:ext cx="34747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Banyak Hidden Gem Tersembunyi</a:t>
            </a:r>
            <a:endParaRPr b="0" i="0" sz="1100" u="none" cap="none" strike="noStrike">
              <a:solidFill>
                <a:schemeClr val="dk1"/>
              </a:solidFill>
              <a:latin typeface="Calibri"/>
              <a:ea typeface="Calibri"/>
              <a:cs typeface="Calibri"/>
              <a:sym typeface="Calibri"/>
            </a:endParaRPr>
          </a:p>
        </p:txBody>
      </p:sp>
      <p:sp>
        <p:nvSpPr>
          <p:cNvPr id="288" name="Google Shape;288;p8"/>
          <p:cNvSpPr/>
          <p:nvPr/>
        </p:nvSpPr>
        <p:spPr>
          <a:xfrm>
            <a:off x="5010912" y="2926080"/>
            <a:ext cx="3840480" cy="566928"/>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AAAAAA"/>
              </a:buClr>
              <a:buSzPts val="950"/>
              <a:buFont typeface="Calibri"/>
              <a:buNone/>
            </a:pPr>
            <a:r>
              <a:rPr b="0" i="0" lang="en-US" sz="950" u="none" cap="none" strike="noStrike">
                <a:solidFill>
                  <a:srgbClr val="AAAAAA"/>
                </a:solidFill>
                <a:latin typeface="Calibri"/>
                <a:ea typeface="Calibri"/>
                <a:cs typeface="Calibri"/>
                <a:sym typeface="Calibri"/>
              </a:rPr>
              <a:t>Terdapat </a:t>
            </a:r>
            <a:r>
              <a:rPr b="0" i="0" lang="en-US" sz="950" u="none" cap="none" strike="noStrike">
                <a:solidFill>
                  <a:schemeClr val="lt1"/>
                </a:solidFill>
                <a:latin typeface="Calibri"/>
                <a:ea typeface="Calibri"/>
                <a:cs typeface="Calibri"/>
                <a:sym typeface="Calibri"/>
              </a:rPr>
              <a:t>konten</a:t>
            </a:r>
            <a:r>
              <a:rPr b="0" i="0" lang="en-US" sz="950" u="none" cap="none" strike="noStrike">
                <a:solidFill>
                  <a:srgbClr val="AAAAAA"/>
                </a:solidFill>
                <a:latin typeface="Calibri"/>
                <a:ea typeface="Calibri"/>
                <a:cs typeface="Calibri"/>
                <a:sym typeface="Calibri"/>
              </a:rPr>
              <a:t> dengan </a:t>
            </a:r>
            <a:r>
              <a:rPr b="0" i="0" lang="en-US" sz="950" u="none" cap="none" strike="noStrike">
                <a:solidFill>
                  <a:schemeClr val="lt1"/>
                </a:solidFill>
                <a:latin typeface="Calibri"/>
                <a:ea typeface="Calibri"/>
                <a:cs typeface="Calibri"/>
                <a:sym typeface="Calibri"/>
              </a:rPr>
              <a:t>rating tinggi</a:t>
            </a:r>
            <a:r>
              <a:rPr b="0" i="0" lang="en-US" sz="950" u="none" cap="none" strike="noStrike">
                <a:solidFill>
                  <a:srgbClr val="AAAAAA"/>
                </a:solidFill>
                <a:latin typeface="Calibri"/>
                <a:ea typeface="Calibri"/>
                <a:cs typeface="Calibri"/>
                <a:sym typeface="Calibri"/>
              </a:rPr>
              <a:t> namun </a:t>
            </a:r>
            <a:r>
              <a:rPr b="0" i="0" lang="en-US" sz="950" u="none" cap="none" strike="noStrike">
                <a:solidFill>
                  <a:schemeClr val="lt1"/>
                </a:solidFill>
                <a:latin typeface="Calibri"/>
                <a:ea typeface="Calibri"/>
                <a:cs typeface="Calibri"/>
                <a:sym typeface="Calibri"/>
              </a:rPr>
              <a:t>popularitas rendah</a:t>
            </a:r>
            <a:r>
              <a:rPr b="0" i="0" lang="en-US" sz="950" u="none" cap="none" strike="noStrike">
                <a:solidFill>
                  <a:srgbClr val="AAAAAA"/>
                </a:solidFill>
                <a:latin typeface="Calibri"/>
                <a:ea typeface="Calibri"/>
                <a:cs typeface="Calibri"/>
                <a:sym typeface="Calibri"/>
              </a:rPr>
              <a:t>. Konten ini berpotensi besar jika dipromosikan lebih aktif lewat algoritma rekomendasi.</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3" name="Shape 293"/>
        <p:cNvGrpSpPr/>
        <p:nvPr/>
      </p:nvGrpSpPr>
      <p:grpSpPr>
        <a:xfrm>
          <a:off x="0" y="0"/>
          <a:ext cx="0" cy="0"/>
          <a:chOff x="0" y="0"/>
          <a:chExt cx="0" cy="0"/>
        </a:xfrm>
      </p:grpSpPr>
      <p:sp>
        <p:nvSpPr>
          <p:cNvPr id="294" name="Google Shape;294;p9"/>
          <p:cNvSpPr/>
          <p:nvPr/>
        </p:nvSpPr>
        <p:spPr>
          <a:xfrm>
            <a:off x="0" y="0"/>
            <a:ext cx="9144000" cy="1051560"/>
          </a:xfrm>
          <a:prstGeom prst="rect">
            <a:avLst/>
          </a:prstGeom>
          <a:solidFill>
            <a:srgbClr val="1414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9"/>
          <p:cNvSpPr/>
          <p:nvPr/>
        </p:nvSpPr>
        <p:spPr>
          <a:xfrm>
            <a:off x="457200" y="73152"/>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50914"/>
              </a:buClr>
              <a:buSzPts val="1000"/>
              <a:buFont typeface="Calibri"/>
              <a:buNone/>
            </a:pPr>
            <a:r>
              <a:rPr b="1" i="0" lang="en-US" sz="1000" u="none" cap="none" strike="noStrike">
                <a:solidFill>
                  <a:srgbClr val="E50914"/>
                </a:solidFill>
                <a:latin typeface="Calibri"/>
                <a:ea typeface="Calibri"/>
                <a:cs typeface="Calibri"/>
                <a:sym typeface="Calibri"/>
              </a:rPr>
              <a:t>08  /  REKOMENDASI</a:t>
            </a:r>
            <a:endParaRPr b="0" i="0" sz="1000" u="none" cap="none" strike="noStrike">
              <a:solidFill>
                <a:schemeClr val="dk1"/>
              </a:solidFill>
              <a:latin typeface="Calibri"/>
              <a:ea typeface="Calibri"/>
              <a:cs typeface="Calibri"/>
              <a:sym typeface="Calibri"/>
            </a:endParaRPr>
          </a:p>
        </p:txBody>
      </p:sp>
      <p:sp>
        <p:nvSpPr>
          <p:cNvPr id="296" name="Google Shape;296;p9"/>
          <p:cNvSpPr/>
          <p:nvPr/>
        </p:nvSpPr>
        <p:spPr>
          <a:xfrm>
            <a:off x="457200" y="347472"/>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600"/>
              <a:buFont typeface="Arial Black"/>
              <a:buNone/>
            </a:pPr>
            <a:r>
              <a:rPr b="1" i="0" lang="en-US" sz="2600" u="none" cap="none" strike="noStrike">
                <a:solidFill>
                  <a:srgbClr val="FFFFFF"/>
                </a:solidFill>
                <a:latin typeface="Arial Black"/>
                <a:ea typeface="Arial Black"/>
                <a:cs typeface="Arial Black"/>
                <a:sym typeface="Arial Black"/>
              </a:rPr>
              <a:t>Action Items untuk Netflix</a:t>
            </a:r>
            <a:endParaRPr b="0" i="0" sz="2600" u="none" cap="none" strike="noStrike">
              <a:solidFill>
                <a:schemeClr val="dk1"/>
              </a:solidFill>
              <a:latin typeface="Calibri"/>
              <a:ea typeface="Calibri"/>
              <a:cs typeface="Calibri"/>
              <a:sym typeface="Calibri"/>
            </a:endParaRPr>
          </a:p>
        </p:txBody>
      </p:sp>
      <p:sp>
        <p:nvSpPr>
          <p:cNvPr id="297" name="Google Shape;297;p9"/>
          <p:cNvSpPr/>
          <p:nvPr/>
        </p:nvSpPr>
        <p:spPr>
          <a:xfrm>
            <a:off x="365760" y="1188720"/>
            <a:ext cx="8412480" cy="822960"/>
          </a:xfrm>
          <a:prstGeom prst="rect">
            <a:avLst/>
          </a:prstGeom>
          <a:solidFill>
            <a:srgbClr val="F5F5F5"/>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9"/>
          <p:cNvSpPr/>
          <p:nvPr/>
        </p:nvSpPr>
        <p:spPr>
          <a:xfrm>
            <a:off x="365760" y="1188720"/>
            <a:ext cx="73152" cy="822960"/>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9"/>
          <p:cNvSpPr/>
          <p:nvPr/>
        </p:nvSpPr>
        <p:spPr>
          <a:xfrm>
            <a:off x="548640" y="1408176"/>
            <a:ext cx="804672" cy="228600"/>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9"/>
          <p:cNvSpPr/>
          <p:nvPr/>
        </p:nvSpPr>
        <p:spPr>
          <a:xfrm>
            <a:off x="548640" y="1408176"/>
            <a:ext cx="804672"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750"/>
              <a:buFont typeface="Calibri"/>
              <a:buNone/>
            </a:pPr>
            <a:r>
              <a:t/>
            </a:r>
            <a:endParaRPr b="0" i="0" sz="750" u="none" cap="none" strike="noStrike">
              <a:solidFill>
                <a:schemeClr val="dk1"/>
              </a:solidFill>
              <a:latin typeface="Calibri"/>
              <a:ea typeface="Calibri"/>
              <a:cs typeface="Calibri"/>
              <a:sym typeface="Calibri"/>
            </a:endParaRPr>
          </a:p>
        </p:txBody>
      </p:sp>
      <p:sp>
        <p:nvSpPr>
          <p:cNvPr id="301" name="Google Shape;301;p9"/>
          <p:cNvSpPr/>
          <p:nvPr/>
        </p:nvSpPr>
        <p:spPr>
          <a:xfrm>
            <a:off x="1481328" y="1243584"/>
            <a:ext cx="5029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200"/>
              <a:buFont typeface="Calibri"/>
              <a:buNone/>
            </a:pPr>
            <a:r>
              <a:rPr b="1" i="0" lang="en-US" sz="1200" u="none" cap="none" strike="noStrike">
                <a:solidFill>
                  <a:srgbClr val="141414"/>
                </a:solidFill>
                <a:latin typeface="Calibri"/>
                <a:ea typeface="Calibri"/>
                <a:cs typeface="Calibri"/>
                <a:sym typeface="Calibri"/>
              </a:rPr>
              <a:t>Tingkatkan Produksi TV Show Original</a:t>
            </a:r>
            <a:endParaRPr b="0" i="0" sz="1200" u="none" cap="none" strike="noStrike">
              <a:solidFill>
                <a:schemeClr val="dk1"/>
              </a:solidFill>
              <a:latin typeface="Calibri"/>
              <a:ea typeface="Calibri"/>
              <a:cs typeface="Calibri"/>
              <a:sym typeface="Calibri"/>
            </a:endParaRPr>
          </a:p>
        </p:txBody>
      </p:sp>
      <p:sp>
        <p:nvSpPr>
          <p:cNvPr id="302" name="Google Shape;302;p9"/>
          <p:cNvSpPr/>
          <p:nvPr/>
        </p:nvSpPr>
        <p:spPr>
          <a:xfrm>
            <a:off x="1481328" y="1609344"/>
            <a:ext cx="502920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950"/>
              <a:buFont typeface="Calibri"/>
              <a:buNone/>
            </a:pPr>
            <a:r>
              <a:rPr b="0" i="0" lang="en-US" sz="950" u="none" cap="none" strike="noStrike">
                <a:solidFill>
                  <a:srgbClr val="555555"/>
                </a:solidFill>
                <a:latin typeface="Calibri"/>
                <a:ea typeface="Calibri"/>
                <a:cs typeface="Calibri"/>
                <a:sym typeface="Calibri"/>
              </a:rPr>
              <a:t>Format serial terbukti mendapat rating lebih tinggi dan mendorong subscriber bertahan lebih lama.</a:t>
            </a:r>
            <a:endParaRPr b="0" i="0" sz="950" u="none" cap="none" strike="noStrike">
              <a:solidFill>
                <a:schemeClr val="dk1"/>
              </a:solidFill>
              <a:latin typeface="Calibri"/>
              <a:ea typeface="Calibri"/>
              <a:cs typeface="Calibri"/>
              <a:sym typeface="Calibri"/>
            </a:endParaRPr>
          </a:p>
        </p:txBody>
      </p:sp>
      <p:sp>
        <p:nvSpPr>
          <p:cNvPr id="303" name="Google Shape;303;p9"/>
          <p:cNvSpPr/>
          <p:nvPr/>
        </p:nvSpPr>
        <p:spPr>
          <a:xfrm>
            <a:off x="6720840" y="1389888"/>
            <a:ext cx="1874520" cy="402336"/>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9"/>
          <p:cNvSpPr/>
          <p:nvPr/>
        </p:nvSpPr>
        <p:spPr>
          <a:xfrm>
            <a:off x="6720840" y="1389888"/>
            <a:ext cx="1874520"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Black"/>
              <a:buNone/>
            </a:pPr>
            <a:r>
              <a:rPr b="1" i="0" lang="en-US" sz="1100" u="none" cap="none" strike="noStrike">
                <a:solidFill>
                  <a:srgbClr val="FFFFFF"/>
                </a:solidFill>
                <a:latin typeface="Arial Black"/>
                <a:ea typeface="Arial Black"/>
                <a:cs typeface="Arial Black"/>
                <a:sym typeface="Arial Black"/>
              </a:rPr>
              <a:t>+15-20% Retention</a:t>
            </a:r>
            <a:endParaRPr b="0" i="0" sz="1100" u="none" cap="none" strike="noStrike">
              <a:solidFill>
                <a:schemeClr val="dk1"/>
              </a:solidFill>
              <a:latin typeface="Calibri"/>
              <a:ea typeface="Calibri"/>
              <a:cs typeface="Calibri"/>
              <a:sym typeface="Calibri"/>
            </a:endParaRPr>
          </a:p>
        </p:txBody>
      </p:sp>
      <p:sp>
        <p:nvSpPr>
          <p:cNvPr id="305" name="Google Shape;305;p9"/>
          <p:cNvSpPr/>
          <p:nvPr/>
        </p:nvSpPr>
        <p:spPr>
          <a:xfrm>
            <a:off x="365760" y="2139696"/>
            <a:ext cx="8412480" cy="822960"/>
          </a:xfrm>
          <a:prstGeom prst="rect">
            <a:avLst/>
          </a:prstGeom>
          <a:solidFill>
            <a:srgbClr val="F5F5F5"/>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9"/>
          <p:cNvSpPr/>
          <p:nvPr/>
        </p:nvSpPr>
        <p:spPr>
          <a:xfrm>
            <a:off x="365760" y="2139696"/>
            <a:ext cx="73152" cy="822960"/>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9"/>
          <p:cNvSpPr/>
          <p:nvPr/>
        </p:nvSpPr>
        <p:spPr>
          <a:xfrm>
            <a:off x="548640" y="2359152"/>
            <a:ext cx="804672" cy="228600"/>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9"/>
          <p:cNvSpPr/>
          <p:nvPr/>
        </p:nvSpPr>
        <p:spPr>
          <a:xfrm>
            <a:off x="548640" y="2359152"/>
            <a:ext cx="804672"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750"/>
              <a:buFont typeface="Calibri"/>
              <a:buNone/>
            </a:pPr>
            <a:r>
              <a:t/>
            </a:r>
            <a:endParaRPr b="0" i="0" sz="750" u="none" cap="none" strike="noStrike">
              <a:solidFill>
                <a:schemeClr val="dk1"/>
              </a:solidFill>
              <a:latin typeface="Calibri"/>
              <a:ea typeface="Calibri"/>
              <a:cs typeface="Calibri"/>
              <a:sym typeface="Calibri"/>
            </a:endParaRPr>
          </a:p>
        </p:txBody>
      </p:sp>
      <p:sp>
        <p:nvSpPr>
          <p:cNvPr id="309" name="Google Shape;309;p9"/>
          <p:cNvSpPr/>
          <p:nvPr/>
        </p:nvSpPr>
        <p:spPr>
          <a:xfrm>
            <a:off x="1481328" y="2194560"/>
            <a:ext cx="50292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14"/>
              </a:buClr>
              <a:buSzPts val="1200"/>
              <a:buFont typeface="Calibri"/>
              <a:buNone/>
            </a:pPr>
            <a:r>
              <a:rPr b="1" i="0" lang="en-US" sz="1200" u="none" cap="none" strike="noStrike">
                <a:solidFill>
                  <a:srgbClr val="141414"/>
                </a:solidFill>
                <a:latin typeface="Calibri"/>
                <a:ea typeface="Calibri"/>
                <a:cs typeface="Calibri"/>
                <a:sym typeface="Calibri"/>
              </a:rPr>
              <a:t>Percepat Akuisi</a:t>
            </a:r>
            <a:r>
              <a:rPr b="1" lang="en-US" sz="1200">
                <a:solidFill>
                  <a:srgbClr val="141414"/>
                </a:solidFill>
                <a:latin typeface="Calibri"/>
                <a:ea typeface="Calibri"/>
                <a:cs typeface="Calibri"/>
                <a:sym typeface="Calibri"/>
              </a:rPr>
              <a:t>si Konten Asia</a:t>
            </a:r>
            <a:endParaRPr b="0" i="0" sz="1200" u="none" cap="none" strike="noStrike">
              <a:solidFill>
                <a:schemeClr val="dk1"/>
              </a:solidFill>
              <a:latin typeface="Calibri"/>
              <a:ea typeface="Calibri"/>
              <a:cs typeface="Calibri"/>
              <a:sym typeface="Calibri"/>
            </a:endParaRPr>
          </a:p>
        </p:txBody>
      </p:sp>
      <p:sp>
        <p:nvSpPr>
          <p:cNvPr id="310" name="Google Shape;310;p9"/>
          <p:cNvSpPr/>
          <p:nvPr/>
        </p:nvSpPr>
        <p:spPr>
          <a:xfrm>
            <a:off x="1481328" y="2560320"/>
            <a:ext cx="502920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950"/>
              <a:buFont typeface="Calibri"/>
              <a:buNone/>
            </a:pPr>
            <a:r>
              <a:rPr b="0" i="0" lang="en-US" sz="950" u="none" cap="none" strike="noStrike">
                <a:solidFill>
                  <a:srgbClr val="555555"/>
                </a:solidFill>
                <a:latin typeface="Calibri"/>
                <a:ea typeface="Calibri"/>
                <a:cs typeface="Calibri"/>
                <a:sym typeface="Calibri"/>
              </a:rPr>
              <a:t>Target akuisis</a:t>
            </a:r>
            <a:r>
              <a:rPr lang="en-US" sz="950">
                <a:solidFill>
                  <a:srgbClr val="555555"/>
                </a:solidFill>
                <a:latin typeface="Calibri"/>
                <a:ea typeface="Calibri"/>
                <a:cs typeface="Calibri"/>
                <a:sym typeface="Calibri"/>
              </a:rPr>
              <a:t>i konten Jepang &amp; Korea dalam tahun pertama rilis untuk menangkap momentum hype.</a:t>
            </a:r>
            <a:endParaRPr b="0" i="0" sz="950" u="none" cap="none" strike="noStrike">
              <a:solidFill>
                <a:schemeClr val="dk1"/>
              </a:solidFill>
              <a:latin typeface="Calibri"/>
              <a:ea typeface="Calibri"/>
              <a:cs typeface="Calibri"/>
              <a:sym typeface="Calibri"/>
            </a:endParaRPr>
          </a:p>
        </p:txBody>
      </p:sp>
      <p:sp>
        <p:nvSpPr>
          <p:cNvPr id="311" name="Google Shape;311;p9"/>
          <p:cNvSpPr/>
          <p:nvPr/>
        </p:nvSpPr>
        <p:spPr>
          <a:xfrm>
            <a:off x="6720840" y="2340864"/>
            <a:ext cx="1874520" cy="402336"/>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9"/>
          <p:cNvSpPr/>
          <p:nvPr/>
        </p:nvSpPr>
        <p:spPr>
          <a:xfrm>
            <a:off x="6720840" y="2340864"/>
            <a:ext cx="1874400" cy="402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Black"/>
              <a:buNone/>
            </a:pPr>
            <a:r>
              <a:rPr b="1" i="0" lang="en-US" sz="1100" u="none" cap="none" strike="noStrike">
                <a:solidFill>
                  <a:srgbClr val="FFFFFF"/>
                </a:solidFill>
                <a:latin typeface="Arial Black"/>
                <a:ea typeface="Arial Black"/>
                <a:cs typeface="Arial Black"/>
                <a:sym typeface="Arial Black"/>
              </a:rPr>
              <a:t>+</a:t>
            </a:r>
            <a:r>
              <a:rPr b="1" lang="en-US" sz="1100">
                <a:solidFill>
                  <a:srgbClr val="FFFFFF"/>
                </a:solidFill>
                <a:latin typeface="Arial Black"/>
                <a:ea typeface="Arial Black"/>
                <a:cs typeface="Arial Black"/>
                <a:sym typeface="Arial Black"/>
              </a:rPr>
              <a:t>Subscriber Asia</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1414"/>
        </a:solidFill>
      </p:bgPr>
    </p:bg>
    <p:spTree>
      <p:nvGrpSpPr>
        <p:cNvPr id="317" name="Shape 317"/>
        <p:cNvGrpSpPr/>
        <p:nvPr/>
      </p:nvGrpSpPr>
      <p:grpSpPr>
        <a:xfrm>
          <a:off x="0" y="0"/>
          <a:ext cx="0" cy="0"/>
          <a:chOff x="0" y="0"/>
          <a:chExt cx="0" cy="0"/>
        </a:xfrm>
      </p:grpSpPr>
      <p:sp>
        <p:nvSpPr>
          <p:cNvPr id="318" name="Google Shape;318;p10"/>
          <p:cNvSpPr/>
          <p:nvPr/>
        </p:nvSpPr>
        <p:spPr>
          <a:xfrm>
            <a:off x="0" y="0"/>
            <a:ext cx="164592" cy="5143500"/>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0"/>
          <p:cNvSpPr/>
          <p:nvPr/>
        </p:nvSpPr>
        <p:spPr>
          <a:xfrm>
            <a:off x="457200" y="777240"/>
            <a:ext cx="8229600" cy="11887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5200"/>
              <a:buFont typeface="Arial Black"/>
              <a:buNone/>
            </a:pPr>
            <a:r>
              <a:rPr b="1" i="0" lang="en-US" sz="5200" u="none" cap="none" strike="noStrike">
                <a:solidFill>
                  <a:srgbClr val="FFFFFF"/>
                </a:solidFill>
                <a:latin typeface="Arial Black"/>
                <a:ea typeface="Arial Black"/>
                <a:cs typeface="Arial Black"/>
                <a:sym typeface="Arial Black"/>
              </a:rPr>
              <a:t>THANK YOU</a:t>
            </a:r>
            <a:endParaRPr b="0" i="0" sz="5200" u="none" cap="none" strike="noStrike">
              <a:solidFill>
                <a:schemeClr val="dk1"/>
              </a:solidFill>
              <a:latin typeface="Calibri"/>
              <a:ea typeface="Calibri"/>
              <a:cs typeface="Calibri"/>
              <a:sym typeface="Calibri"/>
            </a:endParaRPr>
          </a:p>
        </p:txBody>
      </p:sp>
      <p:sp>
        <p:nvSpPr>
          <p:cNvPr id="320" name="Google Shape;320;p10"/>
          <p:cNvSpPr/>
          <p:nvPr/>
        </p:nvSpPr>
        <p:spPr>
          <a:xfrm>
            <a:off x="3200400" y="1993392"/>
            <a:ext cx="2743200" cy="45720"/>
          </a:xfrm>
          <a:prstGeom prst="rect">
            <a:avLst/>
          </a:prstGeom>
          <a:solidFill>
            <a:srgbClr val="E50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0"/>
          <p:cNvSpPr/>
          <p:nvPr/>
        </p:nvSpPr>
        <p:spPr>
          <a:xfrm>
            <a:off x="457200" y="2148840"/>
            <a:ext cx="822960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AAAAA"/>
              </a:buClr>
              <a:buSzPts val="1300"/>
              <a:buFont typeface="Calibri"/>
              <a:buNone/>
            </a:pPr>
            <a:r>
              <a:rPr b="0" i="0" lang="en-US" sz="1300" u="none" cap="none" strike="noStrike">
                <a:solidFill>
                  <a:srgbClr val="AAAAAA"/>
                </a:solidFill>
                <a:latin typeface="Calibri"/>
                <a:ea typeface="Calibri"/>
                <a:cs typeface="Calibri"/>
                <a:sym typeface="Calibri"/>
              </a:rPr>
              <a:t>Netflix Content Strategy Analysis — 2025</a:t>
            </a:r>
            <a:endParaRPr b="0" i="0" sz="1300" u="none" cap="none" strike="noStrike">
              <a:solidFill>
                <a:schemeClr val="dk1"/>
              </a:solidFill>
              <a:latin typeface="Calibri"/>
              <a:ea typeface="Calibri"/>
              <a:cs typeface="Calibri"/>
              <a:sym typeface="Calibri"/>
            </a:endParaRPr>
          </a:p>
        </p:txBody>
      </p:sp>
      <p:sp>
        <p:nvSpPr>
          <p:cNvPr id="322" name="Google Shape;322;p10"/>
          <p:cNvSpPr/>
          <p:nvPr/>
        </p:nvSpPr>
        <p:spPr>
          <a:xfrm>
            <a:off x="914400" y="2834640"/>
            <a:ext cx="1645800" cy="1234500"/>
          </a:xfrm>
          <a:prstGeom prst="rect">
            <a:avLst/>
          </a:prstGeom>
          <a:solidFill>
            <a:srgbClr val="1E1E1E"/>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0"/>
          <p:cNvSpPr/>
          <p:nvPr/>
        </p:nvSpPr>
        <p:spPr>
          <a:xfrm>
            <a:off x="914400" y="2907792"/>
            <a:ext cx="1645920"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50914"/>
              </a:buClr>
              <a:buSzPts val="2800"/>
              <a:buFont typeface="Arial Black"/>
              <a:buNone/>
            </a:pPr>
            <a:r>
              <a:rPr b="1" i="0" lang="en-US" sz="2800" u="none" cap="none" strike="noStrike">
                <a:solidFill>
                  <a:srgbClr val="E50914"/>
                </a:solidFill>
                <a:latin typeface="Arial Black"/>
                <a:ea typeface="Arial Black"/>
                <a:cs typeface="Arial Black"/>
                <a:sym typeface="Arial Black"/>
              </a:rPr>
              <a:t>32K+</a:t>
            </a:r>
            <a:endParaRPr b="0" i="0" sz="2800" u="none" cap="none" strike="noStrike">
              <a:solidFill>
                <a:schemeClr val="dk1"/>
              </a:solidFill>
              <a:latin typeface="Calibri"/>
              <a:ea typeface="Calibri"/>
              <a:cs typeface="Calibri"/>
              <a:sym typeface="Calibri"/>
            </a:endParaRPr>
          </a:p>
        </p:txBody>
      </p:sp>
      <p:sp>
        <p:nvSpPr>
          <p:cNvPr id="324" name="Google Shape;324;p10"/>
          <p:cNvSpPr/>
          <p:nvPr/>
        </p:nvSpPr>
        <p:spPr>
          <a:xfrm>
            <a:off x="914400" y="3520440"/>
            <a:ext cx="164592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AAAAA"/>
              </a:buClr>
              <a:buSzPts val="1000"/>
              <a:buFont typeface="Calibri"/>
              <a:buNone/>
            </a:pPr>
            <a:r>
              <a:rPr b="0" i="0" lang="en-US" sz="1000" u="none" cap="none" strike="noStrike">
                <a:solidFill>
                  <a:srgbClr val="AAAAAA"/>
                </a:solidFill>
                <a:latin typeface="Calibri"/>
                <a:ea typeface="Calibri"/>
                <a:cs typeface="Calibri"/>
                <a:sym typeface="Calibri"/>
              </a:rPr>
              <a:t>Konten</a:t>
            </a:r>
            <a:endParaRPr b="0" i="0" sz="1000" u="none" cap="none" strike="noStrike">
              <a:solidFill>
                <a:schemeClr val="dk1"/>
              </a:solidFill>
              <a:latin typeface="Calibri"/>
              <a:ea typeface="Calibri"/>
              <a:cs typeface="Calibri"/>
              <a:sym typeface="Calibri"/>
            </a:endParaRPr>
          </a:p>
        </p:txBody>
      </p:sp>
      <p:sp>
        <p:nvSpPr>
          <p:cNvPr id="325" name="Google Shape;325;p10"/>
          <p:cNvSpPr/>
          <p:nvPr/>
        </p:nvSpPr>
        <p:spPr>
          <a:xfrm>
            <a:off x="2834640" y="2834640"/>
            <a:ext cx="1645920" cy="1234440"/>
          </a:xfrm>
          <a:prstGeom prst="rect">
            <a:avLst/>
          </a:prstGeom>
          <a:solidFill>
            <a:srgbClr val="1E1E1E"/>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0"/>
          <p:cNvSpPr/>
          <p:nvPr/>
        </p:nvSpPr>
        <p:spPr>
          <a:xfrm>
            <a:off x="2834640" y="2907792"/>
            <a:ext cx="1645920"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50914"/>
              </a:buClr>
              <a:buSzPts val="2800"/>
              <a:buFont typeface="Arial Black"/>
              <a:buNone/>
            </a:pPr>
            <a:r>
              <a:rPr b="1" i="0" lang="en-US" sz="2800" u="none" cap="none" strike="noStrike">
                <a:solidFill>
                  <a:srgbClr val="E50914"/>
                </a:solidFill>
                <a:latin typeface="Arial Black"/>
                <a:ea typeface="Arial Black"/>
                <a:cs typeface="Arial Black"/>
                <a:sym typeface="Arial Black"/>
              </a:rPr>
              <a:t>9</a:t>
            </a:r>
            <a:endParaRPr b="0" i="0" sz="2800" u="none" cap="none" strike="noStrike">
              <a:solidFill>
                <a:schemeClr val="dk1"/>
              </a:solidFill>
              <a:latin typeface="Calibri"/>
              <a:ea typeface="Calibri"/>
              <a:cs typeface="Calibri"/>
              <a:sym typeface="Calibri"/>
            </a:endParaRPr>
          </a:p>
        </p:txBody>
      </p:sp>
      <p:sp>
        <p:nvSpPr>
          <p:cNvPr id="327" name="Google Shape;327;p10"/>
          <p:cNvSpPr/>
          <p:nvPr/>
        </p:nvSpPr>
        <p:spPr>
          <a:xfrm>
            <a:off x="2834640" y="3520440"/>
            <a:ext cx="164592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AAAAA"/>
              </a:buClr>
              <a:buSzPts val="1000"/>
              <a:buFont typeface="Calibri"/>
              <a:buNone/>
            </a:pPr>
            <a:r>
              <a:rPr b="0" i="0" lang="en-US" sz="1000" u="none" cap="none" strike="noStrike">
                <a:solidFill>
                  <a:srgbClr val="AAAAAA"/>
                </a:solidFill>
                <a:latin typeface="Calibri"/>
                <a:ea typeface="Calibri"/>
                <a:cs typeface="Calibri"/>
                <a:sym typeface="Calibri"/>
              </a:rPr>
              <a:t>Analisis</a:t>
            </a:r>
            <a:endParaRPr b="0" i="0" sz="1000" u="none" cap="none" strike="noStrike">
              <a:solidFill>
                <a:schemeClr val="dk1"/>
              </a:solidFill>
              <a:latin typeface="Calibri"/>
              <a:ea typeface="Calibri"/>
              <a:cs typeface="Calibri"/>
              <a:sym typeface="Calibri"/>
            </a:endParaRPr>
          </a:p>
        </p:txBody>
      </p:sp>
      <p:sp>
        <p:nvSpPr>
          <p:cNvPr id="328" name="Google Shape;328;p10"/>
          <p:cNvSpPr/>
          <p:nvPr/>
        </p:nvSpPr>
        <p:spPr>
          <a:xfrm>
            <a:off x="4754880" y="2834640"/>
            <a:ext cx="1645920" cy="1234440"/>
          </a:xfrm>
          <a:prstGeom prst="rect">
            <a:avLst/>
          </a:prstGeom>
          <a:solidFill>
            <a:srgbClr val="1E1E1E"/>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0"/>
          <p:cNvSpPr/>
          <p:nvPr/>
        </p:nvSpPr>
        <p:spPr>
          <a:xfrm>
            <a:off x="4754880" y="2907792"/>
            <a:ext cx="1645920"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50914"/>
              </a:buClr>
              <a:buSzPts val="2800"/>
              <a:buFont typeface="Arial Black"/>
              <a:buNone/>
            </a:pPr>
            <a:r>
              <a:rPr b="1" i="0" lang="en-US" sz="2800" u="none" cap="none" strike="noStrike">
                <a:solidFill>
                  <a:srgbClr val="E50914"/>
                </a:solidFill>
                <a:latin typeface="Arial Black"/>
                <a:ea typeface="Arial Black"/>
                <a:cs typeface="Arial Black"/>
                <a:sym typeface="Arial Black"/>
              </a:rPr>
              <a:t>5</a:t>
            </a:r>
            <a:endParaRPr b="0" i="0" sz="2800" u="none" cap="none" strike="noStrike">
              <a:solidFill>
                <a:schemeClr val="dk1"/>
              </a:solidFill>
              <a:latin typeface="Calibri"/>
              <a:ea typeface="Calibri"/>
              <a:cs typeface="Calibri"/>
              <a:sym typeface="Calibri"/>
            </a:endParaRPr>
          </a:p>
        </p:txBody>
      </p:sp>
      <p:sp>
        <p:nvSpPr>
          <p:cNvPr id="330" name="Google Shape;330;p10"/>
          <p:cNvSpPr/>
          <p:nvPr/>
        </p:nvSpPr>
        <p:spPr>
          <a:xfrm>
            <a:off x="4754880" y="3520440"/>
            <a:ext cx="164592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AAAAA"/>
              </a:buClr>
              <a:buSzPts val="1000"/>
              <a:buFont typeface="Calibri"/>
              <a:buNone/>
            </a:pPr>
            <a:r>
              <a:rPr b="0" i="0" lang="en-US" sz="1000" u="none" cap="none" strike="noStrike">
                <a:solidFill>
                  <a:srgbClr val="AAAAAA"/>
                </a:solidFill>
                <a:latin typeface="Calibri"/>
                <a:ea typeface="Calibri"/>
                <a:cs typeface="Calibri"/>
                <a:sym typeface="Calibri"/>
              </a:rPr>
              <a:t>Insights</a:t>
            </a:r>
            <a:endParaRPr b="0" i="0" sz="1000" u="none" cap="none" strike="noStrike">
              <a:solidFill>
                <a:schemeClr val="dk1"/>
              </a:solidFill>
              <a:latin typeface="Calibri"/>
              <a:ea typeface="Calibri"/>
              <a:cs typeface="Calibri"/>
              <a:sym typeface="Calibri"/>
            </a:endParaRPr>
          </a:p>
        </p:txBody>
      </p:sp>
      <p:sp>
        <p:nvSpPr>
          <p:cNvPr id="331" name="Google Shape;331;p10"/>
          <p:cNvSpPr/>
          <p:nvPr/>
        </p:nvSpPr>
        <p:spPr>
          <a:xfrm>
            <a:off x="6675120" y="2834640"/>
            <a:ext cx="1645920" cy="1234440"/>
          </a:xfrm>
          <a:prstGeom prst="rect">
            <a:avLst/>
          </a:prstGeom>
          <a:solidFill>
            <a:srgbClr val="1E1E1E"/>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10"/>
          <p:cNvSpPr/>
          <p:nvPr/>
        </p:nvSpPr>
        <p:spPr>
          <a:xfrm>
            <a:off x="6675120" y="2907792"/>
            <a:ext cx="1645920"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50914"/>
              </a:buClr>
              <a:buSzPts val="2800"/>
              <a:buFont typeface="Arial Black"/>
              <a:buNone/>
            </a:pPr>
            <a:r>
              <a:rPr b="1" i="0" lang="en-US" sz="2800" u="none" cap="none" strike="noStrike">
                <a:solidFill>
                  <a:srgbClr val="E50914"/>
                </a:solidFill>
                <a:latin typeface="Arial Black"/>
                <a:ea typeface="Arial Black"/>
                <a:cs typeface="Arial Black"/>
                <a:sym typeface="Arial Black"/>
              </a:rPr>
              <a:t>4</a:t>
            </a:r>
            <a:endParaRPr b="0" i="0" sz="2800" u="none" cap="none" strike="noStrike">
              <a:solidFill>
                <a:schemeClr val="dk1"/>
              </a:solidFill>
              <a:latin typeface="Calibri"/>
              <a:ea typeface="Calibri"/>
              <a:cs typeface="Calibri"/>
              <a:sym typeface="Calibri"/>
            </a:endParaRPr>
          </a:p>
        </p:txBody>
      </p:sp>
      <p:sp>
        <p:nvSpPr>
          <p:cNvPr id="333" name="Google Shape;333;p10"/>
          <p:cNvSpPr/>
          <p:nvPr/>
        </p:nvSpPr>
        <p:spPr>
          <a:xfrm>
            <a:off x="6675120" y="3520440"/>
            <a:ext cx="164592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AAAAA"/>
              </a:buClr>
              <a:buSzPts val="1000"/>
              <a:buFont typeface="Calibri"/>
              <a:buNone/>
            </a:pPr>
            <a:r>
              <a:rPr b="0" i="0" lang="en-US" sz="1000" u="none" cap="none" strike="noStrike">
                <a:solidFill>
                  <a:srgbClr val="AAAAAA"/>
                </a:solidFill>
                <a:latin typeface="Calibri"/>
                <a:ea typeface="Calibri"/>
                <a:cs typeface="Calibri"/>
                <a:sym typeface="Calibri"/>
              </a:rPr>
              <a:t>Rekomendasi</a:t>
            </a:r>
            <a:endParaRPr b="0" i="0" sz="1000" u="none" cap="none" strike="noStrike">
              <a:solidFill>
                <a:schemeClr val="dk1"/>
              </a:solidFill>
              <a:latin typeface="Calibri"/>
              <a:ea typeface="Calibri"/>
              <a:cs typeface="Calibri"/>
              <a:sym typeface="Calibri"/>
            </a:endParaRPr>
          </a:p>
        </p:txBody>
      </p:sp>
      <p:sp>
        <p:nvSpPr>
          <p:cNvPr id="334" name="Google Shape;334;p10"/>
          <p:cNvSpPr/>
          <p:nvPr/>
        </p:nvSpPr>
        <p:spPr>
          <a:xfrm>
            <a:off x="457200" y="4681728"/>
            <a:ext cx="8229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AAAAA"/>
              </a:buClr>
              <a:buSzPts val="1000"/>
              <a:buFont typeface="Calibri"/>
              <a:buNone/>
            </a:pPr>
            <a:r>
              <a:rPr lang="en-US" sz="1000">
                <a:solidFill>
                  <a:srgbClr val="AAAAAA"/>
                </a:solidFill>
                <a:latin typeface="Calibri"/>
                <a:ea typeface="Calibri"/>
                <a:cs typeface="Calibri"/>
                <a:sym typeface="Calibri"/>
              </a:rPr>
              <a:t>Ahmad Faizal</a:t>
            </a:r>
            <a:r>
              <a:rPr b="0" i="0" lang="en-US" sz="1000" u="none" cap="none" strike="noStrike">
                <a:solidFill>
                  <a:srgbClr val="AAAAAA"/>
                </a:solidFill>
                <a:latin typeface="Calibri"/>
                <a:ea typeface="Calibri"/>
                <a:cs typeface="Calibri"/>
                <a:sym typeface="Calibri"/>
              </a:rPr>
              <a:t>  ·  Data Analyst  ·  </a:t>
            </a:r>
            <a:r>
              <a:rPr lang="en-US" sz="1000">
                <a:solidFill>
                  <a:srgbClr val="AAAAAA"/>
                </a:solidFill>
                <a:latin typeface="Calibri"/>
                <a:ea typeface="Calibri"/>
                <a:cs typeface="Calibri"/>
                <a:sym typeface="Calibri"/>
              </a:rPr>
              <a:t>4ahmadfaizal9@gmail.com</a:t>
            </a:r>
            <a:r>
              <a:rPr b="0" i="0" lang="en-US" sz="1000" u="none" cap="none" strike="noStrike">
                <a:solidFill>
                  <a:srgbClr val="AAAAAA"/>
                </a:solidFill>
                <a:latin typeface="Calibri"/>
                <a:ea typeface="Calibri"/>
                <a:cs typeface="Calibri"/>
                <a:sym typeface="Calibri"/>
              </a:rPr>
              <a:t>  ·  github.com/[username]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2026-04-25T12:28:22Z</dcterms:created>
  <dc:creator>PptxGenJS</dc:creator>
</cp:coreProperties>
</file>